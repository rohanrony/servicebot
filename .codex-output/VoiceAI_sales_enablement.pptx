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43588b29fd40e9" /><Relationship Type="http://schemas.openxmlformats.org/officeDocument/2006/relationships/extended-properties" Target="/docProps/app.xml" Id="Rdfac5b8fddc04a31" /><Relationship Type="http://schemas.openxmlformats.org/officeDocument/2006/relationships/officeDocument" Target="/ppt/presentation.xml" Id="Re30aa9848a2f40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95a15fe7c84e58"/>
  </p:sldMasterIdLst>
  <p:notesMasterIdLst>
    <p:notesMasterId xmlns:r="http://schemas.openxmlformats.org/officeDocument/2006/relationships" r:id="R539bd4bcd3b24d5e"/>
  </p:notesMasterIdLst>
  <p:sldIdLst>
    <p:sldId xmlns:r="http://schemas.openxmlformats.org/officeDocument/2006/relationships" id="256" r:id="R2b6dbcef8f724a39"/>
    <p:sldId xmlns:r="http://schemas.openxmlformats.org/officeDocument/2006/relationships" id="257" r:id="R2eda9b0ec7484a10"/>
    <p:sldId xmlns:r="http://schemas.openxmlformats.org/officeDocument/2006/relationships" id="258" r:id="R2b83c9bac97c404f"/>
    <p:sldId xmlns:r="http://schemas.openxmlformats.org/officeDocument/2006/relationships" id="259" r:id="R3e387ada5ae44cec"/>
    <p:sldId xmlns:r="http://schemas.openxmlformats.org/officeDocument/2006/relationships" id="260" r:id="R593f4649fd6e4e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647d3d593647cd" /><Relationship Type="http://schemas.openxmlformats.org/officeDocument/2006/relationships/slideMaster" Target="/ppt/slideMasters/slideMaster1.xml" Id="Rc195a15fe7c84e58" /><Relationship Type="http://schemas.openxmlformats.org/officeDocument/2006/relationships/notesMaster" Target="/ppt/notesMasters/notesMaster1.xml" Id="R539bd4bcd3b24d5e" /><Relationship Type="http://schemas.openxmlformats.org/officeDocument/2006/relationships/presProps" Target="/ppt/presProps.xml" Id="R17ae583653d84eb6" /><Relationship Type="http://schemas.openxmlformats.org/officeDocument/2006/relationships/tableStyles" Target="/ppt/tableStyles.xml" Id="Rf2b0106b75cd404f" /><Relationship Type="http://schemas.openxmlformats.org/officeDocument/2006/relationships/slide" Target="/ppt/slides/slide1.xml" Id="R2b6dbcef8f724a39" /><Relationship Type="http://schemas.openxmlformats.org/officeDocument/2006/relationships/slide" Target="/ppt/slides/slide2.xml" Id="R2eda9b0ec7484a10" /><Relationship Type="http://schemas.openxmlformats.org/officeDocument/2006/relationships/slide" Target="/ppt/slides/slide3.xml" Id="R2b83c9bac97c404f" /><Relationship Type="http://schemas.openxmlformats.org/officeDocument/2006/relationships/slide" Target="/ppt/slides/slide4.xml" Id="R3e387ada5ae44cec" /><Relationship Type="http://schemas.openxmlformats.org/officeDocument/2006/relationships/slide" Target="/ppt/slides/slide5.xml" Id="R593f4649fd6e4e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6dccb5cc3c46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256d532d5a481d" /><Relationship Type="http://schemas.openxmlformats.org/officeDocument/2006/relationships/notesMaster" Target="/ppt/notesMasters/notesMaster1.xml" Id="R250bc88bfcee44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4c4fc9289b4e91" /><Relationship Type="http://schemas.openxmlformats.org/officeDocument/2006/relationships/notesMaster" Target="/ppt/notesMasters/notesMaster1.xml" Id="Reeb2717d065445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7645ba78354210" /><Relationship Type="http://schemas.openxmlformats.org/officeDocument/2006/relationships/notesMaster" Target="/ppt/notesMasters/notesMaster1.xml" Id="Re857987c25ff4b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a6ee54661a4929" /><Relationship Type="http://schemas.openxmlformats.org/officeDocument/2006/relationships/notesMaster" Target="/ppt/notesMasters/notesMaster1.xml" Id="Rffa58b717e5d4f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22be8e84b646f3" /><Relationship Type="http://schemas.openxmlformats.org/officeDocument/2006/relationships/notesMaster" Target="/ppt/notesMasters/notesMaster1.xml" Id="R177ca8e7352748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Product positioning and capabilities synthesized from README.md, docs/PRD.md, and docs/RELEASE_NOTE_v0.1.md. Cover artwork generated for this deck and contains no external brand or factual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Problem framing is a concise synthesis of the problem statement and value proposition in docs/PRD.md. No performance metrics are claimed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Workflow based on serviceBot/graph/state.py, serviceBot/graph/routing.py, serviceBot/graph/nodes.py, and the capabilities documented in README.md and docs/RELEASE_NOTE_v0.1.md.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Integrations and portal capabilities based on serviceBot/services/calendar_availability.py, serviceBot/services/google_calendar.py, serviceBot/services/rag.py, serviceBot/services/gmail.py, serviceBot/services/twilio_sms.py, serviceBot/static/index.html, and docs/RELEASE_NOTE_v0.1.md.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Closing workflow and portal capabilities based on docs/PRD.md, README.md, serviceBot/static/index.html, and docs/RELEASE_NOTE_v0.1.md. Copy intentionally avoids unsupported ROI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ee2daac0c42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a7f44383c644c1" /><Relationship Type="http://schemas.openxmlformats.org/officeDocument/2006/relationships/slideLayout" Target="/ppt/slideLayouts/slideLayout1.xml" Id="Rc5161fde40634c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161fde40634c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f0c4d52da42e1" /><Relationship Type="http://schemas.openxmlformats.org/officeDocument/2006/relationships/image" Target="/ppt/media/image.png" Id="Rb13a06e0ac024850" /><Relationship Type="http://schemas.openxmlformats.org/officeDocument/2006/relationships/notesSlide" Target="/ppt/notesSlides/notesSlide1.xml" Id="Rb8a2501bd40840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2a64fad4342a4" /><Relationship Type="http://schemas.openxmlformats.org/officeDocument/2006/relationships/notesSlide" Target="/ppt/notesSlides/notesSlide2.xml" Id="R66fcdd4cab1846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f7d3a2c144a6b" /><Relationship Type="http://schemas.openxmlformats.org/officeDocument/2006/relationships/notesSlide" Target="/ppt/notesSlides/notesSlide3.xml" Id="R5c45da65f5294a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f048100ec4756" /><Relationship Type="http://schemas.openxmlformats.org/officeDocument/2006/relationships/notesSlide" Target="/ppt/notesSlides/notesSlide4.xml" Id="R3c438d823c7b42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b5a8b46754b98" /><Relationship Type="http://schemas.openxmlformats.org/officeDocument/2006/relationships/notesSlide" Target="/ppt/notesSlides/notesSlide5.xml" Id="R8ae9ede8b1b041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a06e0ac02485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left-scrim">
            <a:extLst xmlns:a="http://schemas.openxmlformats.org/drawingml/2006/main">
              <a:ext uri="{FF2B5EF4-FFF2-40B4-BE49-F238E27FC236}">
                <a16:creationId xmlns:a16="http://schemas.microsoft.com/office/drawing/2014/main" id="{99733ACB-8BCD-47A7-9325-1921E85B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E14D24C5-4396-4C70-85F5-D190CF51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334A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4" name="cover-brand-text">
            <a:extLst xmlns:a="http://schemas.openxmlformats.org/drawingml/2006/main">
              <a:ext uri="{FF2B5EF4-FFF2-40B4-BE49-F238E27FC236}">
                <a16:creationId xmlns:a16="http://schemas.microsoft.com/office/drawing/2014/main" id="{79BA49E8-3A5F-4AB4-A55F-B43C4F90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862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641BF35-8CFF-44DF-BB14-ED9CD262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SALES PRESENTATION</a:t>
            </a:r>
          </a:p>
        </p:txBody>
      </p:sp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DB276E4-8D44-482E-BC3C-55EF99D9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FE1D2"/>
            </a:solidFill>
            <a:prstDash val="solid"/>
          </a:ln>
        </p:spPr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985ABE4-6814-4D54-9C76-A3D0C9A2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0EF3E2D-9959-43A3-A38C-7F4D8832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Conversational inbound call handling for service businesses.</a:t>
            </a:r>
          </a:p>
        </p:txBody>
      </p:sp>
      <p:sp>
        <p:nvSpPr>
          <p:cNvPr id="9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E45A7D06-94D8-48E8-AB51-FB8CD8F6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452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B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B9CBD3"/>
                </a:solidFill>
                <a:latin typeface="Helvetica Neue"/>
                <a:ea typeface="Helvetica Neue"/>
                <a:cs typeface="Helvetica Neue"/>
              </a:rPr>
              <a:t>One voice conversation can capture the request, answer questions, and start the next operational step.</a:t>
            </a:r>
          </a:p>
        </p:txBody>
      </p:sp>
      <p:sp>
        <p:nvSpPr>
          <p:cNvPr id="10" name="cover-footer-label">
            <a:extLst xmlns:a="http://schemas.openxmlformats.org/drawingml/2006/main">
              <a:ext uri="{FF2B5EF4-FFF2-40B4-BE49-F238E27FC236}">
                <a16:creationId xmlns:a16="http://schemas.microsoft.com/office/drawing/2014/main" id="{5969D9CB-1EDB-46B6-8944-919FDE2B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PRODUCT OVERVIEW</a:t>
            </a:r>
          </a:p>
        </p:txBody>
      </p:sp>
    </p:spTree>
    <p:extLst>
      <p:ext uri="{BB962C8B-B14F-4D97-AF65-F5344CB8AC3E}">
        <p14:creationId xmlns:p14="http://schemas.microsoft.com/office/powerpoint/2010/main" val="21025958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roblem-brand">
            <a:extLst xmlns:a="http://schemas.openxmlformats.org/drawingml/2006/main">
              <a:ext uri="{FF2B5EF4-FFF2-40B4-BE49-F238E27FC236}">
                <a16:creationId xmlns:a16="http://schemas.microsoft.com/office/drawing/2014/main" id="{7F954FF1-5D80-4C50-B03D-A27FAAAE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A8C9C6"/>
            </a:solidFill>
            <a:prstDash val="solid"/>
          </a:ln>
        </p:spPr>
      </p:sp>
      <p:sp>
        <p:nvSpPr>
          <p:cNvPr id="2" name="problem-brand-text">
            <a:extLst xmlns:a="http://schemas.openxmlformats.org/drawingml/2006/main">
              <a:ext uri="{FF2B5EF4-FFF2-40B4-BE49-F238E27FC236}">
                <a16:creationId xmlns:a16="http://schemas.microsoft.com/office/drawing/2014/main" id="{BC802DAD-057B-4713-AA72-67CFACD0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The phone is where service demand begins">
            <a:extLst xmlns:a="http://schemas.openxmlformats.org/drawingml/2006/main">
              <a:ext uri="{FF2B5EF4-FFF2-40B4-BE49-F238E27FC236}">
                <a16:creationId xmlns:a16="http://schemas.microsoft.com/office/drawing/2014/main" id="{7E383C0D-B591-4F88-A9A9-DDC583E1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THE BUSINESS PROBLEM</a:t>
            </a:r>
          </a:p>
        </p:txBody>
      </p:sp>
      <p:sp>
        <p:nvSpPr>
          <p:cNvPr id="4" name="title-The phone is where service demand begins">
            <a:extLst xmlns:a="http://schemas.openxmlformats.org/drawingml/2006/main">
              <a:ext uri="{FF2B5EF4-FFF2-40B4-BE49-F238E27FC236}">
                <a16:creationId xmlns:a16="http://schemas.microsoft.com/office/drawing/2014/main" id="{F615B2B4-F8A1-4F6E-8B9A-17E7C82A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The phone is where service demand begins</a:t>
            </a:r>
          </a:p>
        </p:txBody>
      </p:sp>
      <p:sp>
        <p:nvSpPr>
          <p:cNvPr id="5" name="subtitle-The phone is where service demand begins">
            <a:extLst xmlns:a="http://schemas.openxmlformats.org/drawingml/2006/main">
              <a:ext uri="{FF2B5EF4-FFF2-40B4-BE49-F238E27FC236}">
                <a16:creationId xmlns:a16="http://schemas.microsoft.com/office/drawing/2014/main" id="{A19E32BF-3E95-4D89-8ADE-2E62D611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When staff cannot answer, the work does not wait.</a:t>
            </a:r>
          </a:p>
        </p:txBody>
      </p:sp>
      <p:sp>
        <p:nvSpPr>
          <p:cNvPr id="6" name="problem-dot-0">
            <a:extLst xmlns:a="http://schemas.openxmlformats.org/drawingml/2006/main">
              <a:ext uri="{FF2B5EF4-FFF2-40B4-BE49-F238E27FC236}">
                <a16:creationId xmlns:a16="http://schemas.microsoft.com/office/drawing/2014/main" id="{F3C13A20-12D5-4F26-B1D7-1707B2CF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label-0">
            <a:extLst xmlns:a="http://schemas.openxmlformats.org/drawingml/2006/main">
              <a:ext uri="{FF2B5EF4-FFF2-40B4-BE49-F238E27FC236}">
                <a16:creationId xmlns:a16="http://schemas.microsoft.com/office/drawing/2014/main" id="{939088D5-80C4-498D-9F52-A926A9C1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MISSED CALLS</a:t>
            </a:r>
          </a:p>
        </p:txBody>
      </p:sp>
      <p:sp>
        <p:nvSpPr>
          <p:cNvPr id="8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E523E5E8-EA79-4A52-8051-B65F6326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A customer leaves before anyone responds.</a:t>
            </a:r>
          </a:p>
        </p:txBody>
      </p:sp>
      <p:sp>
        <p:nvSpPr>
          <p:cNvPr id="9" name="problem-rule-0">
            <a:extLst xmlns:a="http://schemas.openxmlformats.org/drawingml/2006/main">
              <a:ext uri="{FF2B5EF4-FFF2-40B4-BE49-F238E27FC236}">
                <a16:creationId xmlns:a16="http://schemas.microsoft.com/office/drawing/2014/main" id="{FBFC22FC-1AC2-4A28-BC5B-63071599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10" name="problem-dot-1">
            <a:extLst xmlns:a="http://schemas.openxmlformats.org/drawingml/2006/main">
              <a:ext uri="{FF2B5EF4-FFF2-40B4-BE49-F238E27FC236}">
                <a16:creationId xmlns:a16="http://schemas.microsoft.com/office/drawing/2014/main" id="{31DCA3FC-FB45-42A6-8D77-13401703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label-1">
            <a:extLst xmlns:a="http://schemas.openxmlformats.org/drawingml/2006/main">
              <a:ext uri="{FF2B5EF4-FFF2-40B4-BE49-F238E27FC236}">
                <a16:creationId xmlns:a16="http://schemas.microsoft.com/office/drawing/2014/main" id="{D0B7BE2E-8A0D-4B76-8BC6-5DC91E40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REPETITIVE FRONT-DESK WORK</a:t>
            </a:r>
          </a:p>
        </p:txBody>
      </p:sp>
      <p:sp>
        <p:nvSpPr>
          <p:cNvPr id="12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067C6492-85B3-4D26-A809-38E15D42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Staff re-enter the same details across tools.</a:t>
            </a:r>
          </a:p>
        </p:txBody>
      </p:sp>
      <p:sp>
        <p:nvSpPr>
          <p:cNvPr id="13" name="problem-rule-1">
            <a:extLst xmlns:a="http://schemas.openxmlformats.org/drawingml/2006/main">
              <a:ext uri="{FF2B5EF4-FFF2-40B4-BE49-F238E27FC236}">
                <a16:creationId xmlns:a16="http://schemas.microsoft.com/office/drawing/2014/main" id="{A84618A6-AF72-4D00-8CAB-7D865088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14" name="problem-dot-2">
            <a:extLst xmlns:a="http://schemas.openxmlformats.org/drawingml/2006/main">
              <a:ext uri="{FF2B5EF4-FFF2-40B4-BE49-F238E27FC236}">
                <a16:creationId xmlns:a16="http://schemas.microsoft.com/office/drawing/2014/main" id="{F39D14A5-2FA6-42CF-9A1E-E0CA2154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label-2">
            <a:extLst xmlns:a="http://schemas.openxmlformats.org/drawingml/2006/main">
              <a:ext uri="{FF2B5EF4-FFF2-40B4-BE49-F238E27FC236}">
                <a16:creationId xmlns:a16="http://schemas.microsoft.com/office/drawing/2014/main" id="{06F8B5FB-FFE3-4A93-9415-E9D2FDED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FRAGMENTED FOLLOW-THROUGH</a:t>
            </a:r>
          </a:p>
        </p:txBody>
      </p:sp>
      <p:sp>
        <p:nvSpPr>
          <p:cNvPr id="16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23935DB3-72A1-4645-9AC7-AF16EAF2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Bookings, reminders, and handoffs depend on manual coordination.</a:t>
            </a:r>
          </a:p>
        </p:txBody>
      </p:sp>
      <p:sp>
        <p:nvSpPr>
          <p:cNvPr id="17" name="problem-before-label">
            <a:extLst xmlns:a="http://schemas.openxmlformats.org/drawingml/2006/main">
              <a:ext uri="{FF2B5EF4-FFF2-40B4-BE49-F238E27FC236}">
                <a16:creationId xmlns:a16="http://schemas.microsoft.com/office/drawing/2014/main" id="{CB26FE10-7CE2-4B50-94DD-C852CCDA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WHEN THE TEAM IS BUSY</a:t>
            </a:r>
          </a:p>
        </p:txBody>
      </p:sp>
      <p:sp>
        <p:nvSpPr>
          <p:cNvPr id="18" name="problem-before-call">
            <a:extLst xmlns:a="http://schemas.openxmlformats.org/drawingml/2006/main">
              <a:ext uri="{FF2B5EF4-FFF2-40B4-BE49-F238E27FC236}">
                <a16:creationId xmlns:a16="http://schemas.microsoft.com/office/drawing/2014/main" id="{572B92BB-01A0-416F-A089-9F83873E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F39D84"/>
            </a:solidFill>
            <a:prstDash val="solid"/>
          </a:ln>
        </p:spPr>
      </p:sp>
      <p:sp>
        <p:nvSpPr>
          <p:cNvPr id="19" name="problem-before-call-text">
            <a:extLst xmlns:a="http://schemas.openxmlformats.org/drawingml/2006/main">
              <a:ext uri="{FF2B5EF4-FFF2-40B4-BE49-F238E27FC236}">
                <a16:creationId xmlns:a16="http://schemas.microsoft.com/office/drawing/2014/main" id="{A7D31DF2-A142-4074-BE71-C45CD7D2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33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CALL</a:t>
            </a:r>
          </a:p>
        </p:txBody>
      </p:sp>
      <p:sp>
        <p:nvSpPr>
          <p:cNvPr id="20" name="problem-voicemail">
            <a:extLst xmlns:a="http://schemas.openxmlformats.org/drawingml/2006/main">
              <a:ext uri="{FF2B5EF4-FFF2-40B4-BE49-F238E27FC236}">
                <a16:creationId xmlns:a16="http://schemas.microsoft.com/office/drawing/2014/main" id="{4ABBBB26-3C03-49E3-A459-3B2A506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9525">
            <a:solidFill>
              <a:srgbClr val="F2C37B"/>
            </a:solidFill>
            <a:prstDash val="solid"/>
          </a:ln>
        </p:spPr>
      </p:sp>
      <p:sp>
        <p:nvSpPr>
          <p:cNvPr id="21" name="problem-voicemail-text">
            <a:extLst xmlns:a="http://schemas.openxmlformats.org/drawingml/2006/main">
              <a:ext uri="{FF2B5EF4-FFF2-40B4-BE49-F238E27FC236}">
                <a16:creationId xmlns:a16="http://schemas.microsoft.com/office/drawing/2014/main" id="{7B21849D-19F6-4472-B075-998E45FE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432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Voicemail or repeat call</a:t>
            </a:r>
          </a:p>
        </p:txBody>
      </p:sp>
      <p:cxnSp>
        <p:nvCxnSpPr>
          <p:cNvPr id="57" name=""/>
          <p:cNvCxnSpPr>
            <a:stCxn xmlns:a="http://schemas.openxmlformats.org/drawingml/2006/main" id="18" idx="6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448550" y="30384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9D84"/>
            </a:solidFill>
            <a:prstDash val="solid"/>
            <a:headEnd type="arrow" w="sm" len="sm"/>
          </a:ln>
        </p:spPr>
      </p:cxnSp>
      <p:sp>
        <p:nvSpPr>
          <p:cNvPr id="23" name="problem-after-label">
            <a:extLst xmlns:a="http://schemas.openxmlformats.org/drawingml/2006/main">
              <a:ext uri="{FF2B5EF4-FFF2-40B4-BE49-F238E27FC236}">
                <a16:creationId xmlns:a16="http://schemas.microsoft.com/office/drawing/2014/main" id="{A452ACD8-C1EE-4CAE-AEB2-F3CF33C0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WITH VOICEAI</a:t>
            </a:r>
          </a:p>
        </p:txBody>
      </p:sp>
      <p:sp>
        <p:nvSpPr>
          <p:cNvPr id="24" name="problem-after-call">
            <a:extLst xmlns:a="http://schemas.openxmlformats.org/drawingml/2006/main">
              <a:ext uri="{FF2B5EF4-FFF2-40B4-BE49-F238E27FC236}">
                <a16:creationId xmlns:a16="http://schemas.microsoft.com/office/drawing/2014/main" id="{18CCEEDB-7E34-48E3-9B21-39F36A27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E766E"/>
            </a:solidFill>
            <a:prstDash val="solid"/>
          </a:ln>
        </p:spPr>
      </p:sp>
      <p:sp>
        <p:nvSpPr>
          <p:cNvPr id="25" name="problem-after-call-text">
            <a:extLst xmlns:a="http://schemas.openxmlformats.org/drawingml/2006/main">
              <a:ext uri="{FF2B5EF4-FFF2-40B4-BE49-F238E27FC236}">
                <a16:creationId xmlns:a16="http://schemas.microsoft.com/office/drawing/2014/main" id="{B65B2412-38BB-4DED-B934-7D247583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958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CALL</a:t>
            </a:r>
          </a:p>
        </p:txBody>
      </p:sp>
      <p:sp>
        <p:nvSpPr>
          <p:cNvPr id="26" name="problem-conversation">
            <a:extLst xmlns:a="http://schemas.openxmlformats.org/drawingml/2006/main">
              <a:ext uri="{FF2B5EF4-FFF2-40B4-BE49-F238E27FC236}">
                <a16:creationId xmlns:a16="http://schemas.microsoft.com/office/drawing/2014/main" id="{EFEC61F0-5F0F-491B-BB9D-E981815A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43400"/>
            <a:ext cx="1257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E766E"/>
            </a:solidFill>
            <a:prstDash val="solid"/>
          </a:ln>
        </p:spPr>
      </p:sp>
      <p:sp>
        <p:nvSpPr>
          <p:cNvPr id="27" name="problem-conversation-text">
            <a:extLst xmlns:a="http://schemas.openxmlformats.org/drawingml/2006/main">
              <a:ext uri="{FF2B5EF4-FFF2-40B4-BE49-F238E27FC236}">
                <a16:creationId xmlns:a16="http://schemas.microsoft.com/office/drawing/2014/main" id="{C4FA44BB-EF55-4EAF-9BBB-AD756447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Useful conversation</a:t>
            </a:r>
          </a:p>
        </p:txBody>
      </p:sp>
      <p:sp>
        <p:nvSpPr>
          <p:cNvPr id="28" name="problem-next-step">
            <a:extLst xmlns:a="http://schemas.openxmlformats.org/drawingml/2006/main">
              <a:ext uri="{FF2B5EF4-FFF2-40B4-BE49-F238E27FC236}">
                <a16:creationId xmlns:a16="http://schemas.microsoft.com/office/drawing/2014/main" id="{EE801684-5714-4820-AEC0-8DE7B672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1695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B42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9" name="problem-next-step-text">
            <a:extLst xmlns:a="http://schemas.openxmlformats.org/drawingml/2006/main">
              <a:ext uri="{FF2B5EF4-FFF2-40B4-BE49-F238E27FC236}">
                <a16:creationId xmlns:a16="http://schemas.microsoft.com/office/drawing/2014/main" id="{DDF89B49-BC5B-4E54-9CBF-AF36DB35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053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Clear next step</a:t>
            </a:r>
          </a:p>
        </p:txBody>
      </p:sp>
      <p:cxnSp>
        <p:nvCxnSpPr>
          <p:cNvPr id="65" name=""/>
          <p:cNvCxnSpPr>
            <a:stCxn xmlns:a="http://schemas.openxmlformats.org/drawingml/2006/main" id="24" idx="6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448550" y="46005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766E"/>
            </a:solidFill>
            <a:prstDash val="solid"/>
            <a:headEnd type="arrow" w="sm" len="sm"/>
          </a:ln>
        </p:spPr>
      </p:cxnSp>
      <p:cxnSp>
        <p:nvCxnSpPr>
          <p:cNvPr id="66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124950" y="46005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766E"/>
            </a:solidFill>
            <a:prstDash val="solid"/>
            <a:headEnd type="arrow" w="sm" len="sm"/>
          </a:ln>
        </p:spPr>
      </p:cxnSp>
      <p:sp>
        <p:nvSpPr>
          <p:cNvPr id="32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26A02651-5E26-4745-AC64-CC4886A1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VoiceAI keeps the first conversation useful, even when the team is busy.</a:t>
            </a:r>
          </a:p>
        </p:txBody>
      </p:sp>
      <p:sp>
        <p:nvSpPr>
          <p:cNvPr id="3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D47B18F5-7129-416F-9655-15271A1B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E2"/>
            </a:solidFill>
            <a:prstDash val="solid"/>
          </a:ln>
        </p:spPr>
      </p:sp>
      <p:sp>
        <p:nvSpPr>
          <p:cNvPr id="34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4F860050-A2DE-4440-9859-107915B6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220F1641-FFC5-44B5-B7E3-07ECA5F3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3854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workflow-brand">
            <a:extLst xmlns:a="http://schemas.openxmlformats.org/drawingml/2006/main">
              <a:ext uri="{FF2B5EF4-FFF2-40B4-BE49-F238E27FC236}">
                <a16:creationId xmlns:a16="http://schemas.microsoft.com/office/drawing/2014/main" id="{08522FBF-0637-4AC0-A2BE-50BE2451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334A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" name="workflow-brand-text">
            <a:extLst xmlns:a="http://schemas.openxmlformats.org/drawingml/2006/main">
              <a:ext uri="{FF2B5EF4-FFF2-40B4-BE49-F238E27FC236}">
                <a16:creationId xmlns:a16="http://schemas.microsoft.com/office/drawing/2014/main" id="{AA2B18BA-7BB2-4E22-926F-2C025FEB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One conversation, several business actions">
            <a:extLst xmlns:a="http://schemas.openxmlformats.org/drawingml/2006/main">
              <a:ext uri="{FF2B5EF4-FFF2-40B4-BE49-F238E27FC236}">
                <a16:creationId xmlns:a16="http://schemas.microsoft.com/office/drawing/2014/main" id="{F9CFB0F9-6538-4686-8B3A-E2ABEAC9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THE PRODUCT WORKFLOW</a:t>
            </a:r>
          </a:p>
        </p:txBody>
      </p:sp>
      <p:sp>
        <p:nvSpPr>
          <p:cNvPr id="4" name="title-One conversation, several business actions">
            <a:extLst xmlns:a="http://schemas.openxmlformats.org/drawingml/2006/main">
              <a:ext uri="{FF2B5EF4-FFF2-40B4-BE49-F238E27FC236}">
                <a16:creationId xmlns:a16="http://schemas.microsoft.com/office/drawing/2014/main" id="{44EF1896-8D8F-449E-82AB-D970F63D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conversation, several business actions</a:t>
            </a:r>
          </a:p>
        </p:txBody>
      </p:sp>
      <p:sp>
        <p:nvSpPr>
          <p:cNvPr id="5" name="subtitle-One conversation, several business actions">
            <a:extLst xmlns:a="http://schemas.openxmlformats.org/drawingml/2006/main">
              <a:ext uri="{FF2B5EF4-FFF2-40B4-BE49-F238E27FC236}">
                <a16:creationId xmlns:a16="http://schemas.microsoft.com/office/drawing/2014/main" id="{E5310EF6-B742-4638-A2F3-94646D4C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rPr>
              <a:t>VoiceAI routes the request to the right next step while keeping the caller’s context in one place.</a:t>
            </a:r>
          </a:p>
        </p:txBody>
      </p:sp>
      <p:sp>
        <p:nvSpPr>
          <p:cNvPr id="6" name="workflow-call">
            <a:extLst xmlns:a="http://schemas.openxmlformats.org/drawingml/2006/main">
              <a:ext uri="{FF2B5EF4-FFF2-40B4-BE49-F238E27FC236}">
                <a16:creationId xmlns:a16="http://schemas.microsoft.com/office/drawing/2014/main" id="{DBD73012-916E-4824-BC71-8E7CFC76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call-text">
            <a:extLst xmlns:a="http://schemas.openxmlformats.org/drawingml/2006/main">
              <a:ext uri="{FF2B5EF4-FFF2-40B4-BE49-F238E27FC236}">
                <a16:creationId xmlns:a16="http://schemas.microsoft.com/office/drawing/2014/main" id="{900C4B12-03A5-421A-995D-A1CA3C31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7182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rPr>
              <a:t>INBOUND</a:t>
            </a:r>
          </a:p>
          <a:p xmlns:a="http://schemas.openxmlformats.org/drawingml/2006/main">
            <a:pPr algn="ctr">
              <a:defRPr sz="1275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rPr>
              <a:t>CALL</a:t>
            </a:r>
          </a:p>
        </p:txBody>
      </p:sp>
      <p:sp>
        <p:nvSpPr>
          <p:cNvPr id="8" name="workflow-router">
            <a:extLst xmlns:a="http://schemas.openxmlformats.org/drawingml/2006/main">
              <a:ext uri="{FF2B5EF4-FFF2-40B4-BE49-F238E27FC236}">
                <a16:creationId xmlns:a16="http://schemas.microsoft.com/office/drawing/2014/main" id="{0BF27F4D-4809-47F3-95BF-E2EF2637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3B56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9" name="workflow-router-title">
            <a:extLst xmlns:a="http://schemas.openxmlformats.org/drawingml/2006/main">
              <a:ext uri="{FF2B5EF4-FFF2-40B4-BE49-F238E27FC236}">
                <a16:creationId xmlns:a16="http://schemas.microsoft.com/office/drawing/2014/main" id="{DCCB7CBC-019C-4AA7-B3C0-367A4147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670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INTENT ROUTING</a:t>
            </a:r>
          </a:p>
        </p:txBody>
      </p:sp>
      <p:sp>
        <p:nvSpPr>
          <p:cNvPr id="10" name="workflow-router-body">
            <a:extLst xmlns:a="http://schemas.openxmlformats.org/drawingml/2006/main">
              <a:ext uri="{FF2B5EF4-FFF2-40B4-BE49-F238E27FC236}">
                <a16:creationId xmlns:a16="http://schemas.microsoft.com/office/drawing/2014/main" id="{2BDF7BE2-6CD6-44AA-B8F7-B02342E4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909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Caller history + request context</a:t>
            </a:r>
          </a:p>
        </p:txBody>
      </p:sp>
      <p:cxnSp>
        <p:nvCxnSpPr>
          <p:cNvPr id="46" name=""/>
          <p:cNvCxnSpPr>
            <a:stCxn xmlns:a="http://schemas.openxmlformats.org/drawingml/2006/main" id="6" idx="6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809750" y="33909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E1D2"/>
            </a:solidFill>
            <a:prstDash val="solid"/>
            <a:headEnd type="arrow" w="med" len="med"/>
          </a:ln>
        </p:spPr>
      </p:cxnSp>
      <p:sp>
        <p:nvSpPr>
          <p:cNvPr id="12" name="workflow-destination-0">
            <a:extLst xmlns:a="http://schemas.openxmlformats.org/drawingml/2006/main">
              <a:ext uri="{FF2B5EF4-FFF2-40B4-BE49-F238E27FC236}">
                <a16:creationId xmlns:a16="http://schemas.microsoft.com/office/drawing/2014/main" id="{36E6971C-3A65-4325-99A6-3E8961FC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3" name="workflow-dot-0">
            <a:extLst xmlns:a="http://schemas.openxmlformats.org/drawingml/2006/main">
              <a:ext uri="{FF2B5EF4-FFF2-40B4-BE49-F238E27FC236}">
                <a16:creationId xmlns:a16="http://schemas.microsoft.com/office/drawing/2014/main" id="{7DF9CE30-DBA6-4031-BCFE-656573D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orkflow-destination-label-0">
            <a:extLst xmlns:a="http://schemas.openxmlformats.org/drawingml/2006/main">
              <a:ext uri="{FF2B5EF4-FFF2-40B4-BE49-F238E27FC236}">
                <a16:creationId xmlns:a16="http://schemas.microsoft.com/office/drawing/2014/main" id="{8F6F2CED-DDCC-4938-BCE0-B3DC4218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955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SERVICE INTAKE</a:t>
            </a:r>
          </a:p>
        </p:txBody>
      </p:sp>
      <p:sp>
        <p:nvSpPr>
          <p:cNvPr id="15" name="workflow-destination-body-0">
            <a:extLst xmlns:a="http://schemas.openxmlformats.org/drawingml/2006/main">
              <a:ext uri="{FF2B5EF4-FFF2-40B4-BE49-F238E27FC236}">
                <a16:creationId xmlns:a16="http://schemas.microsoft.com/office/drawing/2014/main" id="{8C61EDA0-525C-4626-95A7-3046D215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289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Capture the right details</a:t>
            </a:r>
          </a:p>
        </p:txBody>
      </p: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4381500" y="2667000"/>
            <a:ext cx="838200" cy="723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B7486"/>
            </a:solidFill>
            <a:prstDash val="solid"/>
            <a:headEnd type="arrow" w="sm" len="sm"/>
          </a:ln>
        </p:spPr>
      </p:cxnSp>
      <p:sp>
        <p:nvSpPr>
          <p:cNvPr id="17" name="workflow-destination-1">
            <a:extLst xmlns:a="http://schemas.openxmlformats.org/drawingml/2006/main">
              <a:ext uri="{FF2B5EF4-FFF2-40B4-BE49-F238E27FC236}">
                <a16:creationId xmlns:a16="http://schemas.microsoft.com/office/drawing/2014/main" id="{5EE35A74-E0A2-4F1F-AE31-C847D0EB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3B56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18" name="workflow-dot-1">
            <a:extLst xmlns:a="http://schemas.openxmlformats.org/drawingml/2006/main">
              <a:ext uri="{FF2B5EF4-FFF2-40B4-BE49-F238E27FC236}">
                <a16:creationId xmlns:a16="http://schemas.microsoft.com/office/drawing/2014/main" id="{F827C4F2-ABD1-4DEA-B270-47A4BB2F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orkflow-destination-label-1">
            <a:extLst xmlns:a="http://schemas.openxmlformats.org/drawingml/2006/main">
              <a:ext uri="{FF2B5EF4-FFF2-40B4-BE49-F238E27FC236}">
                <a16:creationId xmlns:a16="http://schemas.microsoft.com/office/drawing/2014/main" id="{D0A689B1-0D29-427F-BB0A-89396080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955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APPOINTMENT BOOKING</a:t>
            </a:r>
          </a:p>
        </p:txBody>
      </p:sp>
      <p:sp>
        <p:nvSpPr>
          <p:cNvPr id="20" name="workflow-destination-body-1">
            <a:extLst xmlns:a="http://schemas.openxmlformats.org/drawingml/2006/main">
              <a:ext uri="{FF2B5EF4-FFF2-40B4-BE49-F238E27FC236}">
                <a16:creationId xmlns:a16="http://schemas.microsoft.com/office/drawing/2014/main" id="{792E1D21-408A-4D7A-830F-6C53CB0A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Check and reserve a slot</a:t>
            </a:r>
          </a:p>
        </p:txBody>
      </p:sp>
      <p:cxnSp>
        <p:nvCxnSpPr>
          <p:cNvPr id="56" name=""/>
          <p:cNvCxnSpPr>
            <a:stCxn xmlns:a="http://schemas.openxmlformats.org/drawingml/2006/main" id="8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4381500" y="2667000"/>
            <a:ext cx="3429000" cy="723900"/>
          </a:xfrm>
          <a:prstGeom xmlns:a="http://schemas.openxmlformats.org/drawingml/2006/main" prst="bentConnector3">
            <a:avLst>
              <a:gd name="adj1" fmla="val 93333"/>
            </a:avLst>
          </a:prstGeom>
          <a:ln xmlns:a="http://schemas.openxmlformats.org/drawingml/2006/main" w="19050">
            <a:solidFill>
              <a:srgbClr val="5FE1D2"/>
            </a:solidFill>
            <a:prstDash val="solid"/>
            <a:headEnd type="arrow" w="sm" len="sm"/>
          </a:ln>
        </p:spPr>
      </p:cxnSp>
      <p:sp>
        <p:nvSpPr>
          <p:cNvPr id="22" name="workflow-destination-2">
            <a:extLst xmlns:a="http://schemas.openxmlformats.org/drawingml/2006/main">
              <a:ext uri="{FF2B5EF4-FFF2-40B4-BE49-F238E27FC236}">
                <a16:creationId xmlns:a16="http://schemas.microsoft.com/office/drawing/2014/main" id="{A7738516-76CF-4B64-B454-7B92C4DA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23" name="workflow-dot-2">
            <a:extLst xmlns:a="http://schemas.openxmlformats.org/drawingml/2006/main">
              <a:ext uri="{FF2B5EF4-FFF2-40B4-BE49-F238E27FC236}">
                <a16:creationId xmlns:a16="http://schemas.microsoft.com/office/drawing/2014/main" id="{3D696370-0AEE-41C2-9BCC-7E8F111D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orkflow-destination-label-2">
            <a:extLst xmlns:a="http://schemas.openxmlformats.org/drawingml/2006/main">
              <a:ext uri="{FF2B5EF4-FFF2-40B4-BE49-F238E27FC236}">
                <a16:creationId xmlns:a16="http://schemas.microsoft.com/office/drawing/2014/main" id="{95AD5AB4-F0EC-455A-8339-2FE384F6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2767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FAQ ANSWER</a:t>
            </a:r>
          </a:p>
        </p:txBody>
      </p:sp>
      <p:sp>
        <p:nvSpPr>
          <p:cNvPr id="25" name="workflow-destination-body-2">
            <a:extLst xmlns:a="http://schemas.openxmlformats.org/drawingml/2006/main">
              <a:ext uri="{FF2B5EF4-FFF2-40B4-BE49-F238E27FC236}">
                <a16:creationId xmlns:a16="http://schemas.microsoft.com/office/drawing/2014/main" id="{4C7B8084-6A06-438F-A08A-C0293F97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101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Use the business knowledge base</a:t>
            </a:r>
          </a:p>
        </p:txBody>
      </p: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381500" y="3390900"/>
            <a:ext cx="838200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B7486"/>
            </a:solidFill>
            <a:prstDash val="solid"/>
            <a:headEnd type="arrow" w="sm" len="sm"/>
          </a:ln>
        </p:spPr>
      </p:cxnSp>
      <p:sp>
        <p:nvSpPr>
          <p:cNvPr id="27" name="workflow-destination-3">
            <a:extLst xmlns:a="http://schemas.openxmlformats.org/drawingml/2006/main">
              <a:ext uri="{FF2B5EF4-FFF2-40B4-BE49-F238E27FC236}">
                <a16:creationId xmlns:a16="http://schemas.microsoft.com/office/drawing/2014/main" id="{93A26C1E-8941-49AD-8E0F-79CC8F02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148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28" name="workflow-dot-3">
            <a:extLst xmlns:a="http://schemas.openxmlformats.org/drawingml/2006/main">
              <a:ext uri="{FF2B5EF4-FFF2-40B4-BE49-F238E27FC236}">
                <a16:creationId xmlns:a16="http://schemas.microsoft.com/office/drawing/2014/main" id="{7C217A3C-2A3B-416E-8FAA-CD2350B3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orkflow-destination-label-3">
            <a:extLst xmlns:a="http://schemas.openxmlformats.org/drawingml/2006/main">
              <a:ext uri="{FF2B5EF4-FFF2-40B4-BE49-F238E27FC236}">
                <a16:creationId xmlns:a16="http://schemas.microsoft.com/office/drawing/2014/main" id="{8F484DAB-2FFD-4504-A3FC-14A451AA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767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CALLBACK OR HANDOFF</a:t>
            </a:r>
          </a:p>
        </p:txBody>
      </p:sp>
      <p:sp>
        <p:nvSpPr>
          <p:cNvPr id="30" name="workflow-destination-body-3">
            <a:extLst xmlns:a="http://schemas.openxmlformats.org/drawingml/2006/main">
              <a:ext uri="{FF2B5EF4-FFF2-40B4-BE49-F238E27FC236}">
                <a16:creationId xmlns:a16="http://schemas.microsoft.com/office/drawing/2014/main" id="{38889880-82AC-474D-B86F-4B9032CC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Keep the next action clear</a:t>
            </a:r>
          </a:p>
        </p:txBody>
      </p:sp>
      <p:cxnSp>
        <p:nvCxnSpPr>
          <p:cNvPr id="66" name=""/>
          <p:cNvCxnSpPr>
            <a:stCxn xmlns:a="http://schemas.openxmlformats.org/drawingml/2006/main" id="8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381500" y="3390900"/>
            <a:ext cx="3429000" cy="1257300"/>
          </a:xfrm>
          <a:prstGeom xmlns:a="http://schemas.openxmlformats.org/drawingml/2006/main" prst="bentConnector3">
            <a:avLst>
              <a:gd name="adj1" fmla="val 93333"/>
            </a:avLst>
          </a:prstGeom>
          <a:ln xmlns:a="http://schemas.openxmlformats.org/drawingml/2006/main" w="19050">
            <a:solidFill>
              <a:srgbClr val="4B7486"/>
            </a:solidFill>
            <a:prstDash val="solid"/>
            <a:headEnd type="arrow" w="sm" len="sm"/>
          </a:ln>
        </p:spPr>
      </p:cxnSp>
      <p:sp>
        <p:nvSpPr>
          <p:cNvPr id="32" name="workflow-bottom-note">
            <a:extLst xmlns:a="http://schemas.openxmlformats.org/drawingml/2006/main">
              <a:ext uri="{FF2B5EF4-FFF2-40B4-BE49-F238E27FC236}">
                <a16:creationId xmlns:a16="http://schemas.microsoft.com/office/drawing/2014/main" id="{53028BD4-B9B4-4E0F-8E0E-7B8C1731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5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5C9D2"/>
                </a:solidFill>
                <a:latin typeface="Helvetica Neue"/>
                <a:ea typeface="Helvetica Neue"/>
                <a:cs typeface="Helvetica Neue"/>
              </a:rPr>
              <a:t>Structured records and summaries give staff a clear handoff when the call continues beyond automation.</a:t>
            </a:r>
          </a:p>
        </p:txBody>
      </p:sp>
      <p:sp>
        <p:nvSpPr>
          <p:cNvPr id="3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980973BA-8FD1-4278-83AF-71076A21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C"/>
            </a:solidFill>
            <a:prstDash val="solid"/>
          </a:ln>
        </p:spPr>
      </p:sp>
      <p:sp>
        <p:nvSpPr>
          <p:cNvPr id="34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64D25FBE-6337-4FF4-8D10-B4FEFF45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465EC92B-39C4-4ECD-BF9B-E6CAFB26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8485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operations-brand">
            <a:extLst xmlns:a="http://schemas.openxmlformats.org/drawingml/2006/main">
              <a:ext uri="{FF2B5EF4-FFF2-40B4-BE49-F238E27FC236}">
                <a16:creationId xmlns:a16="http://schemas.microsoft.com/office/drawing/2014/main" id="{240DE875-0DF0-4ED5-9839-6A0E51FF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A8C9C6"/>
            </a:solidFill>
            <a:prstDash val="solid"/>
          </a:ln>
        </p:spPr>
      </p:sp>
      <p:sp>
        <p:nvSpPr>
          <p:cNvPr id="2" name="operations-brand-text">
            <a:extLst xmlns:a="http://schemas.openxmlformats.org/drawingml/2006/main">
              <a:ext uri="{FF2B5EF4-FFF2-40B4-BE49-F238E27FC236}">
                <a16:creationId xmlns:a16="http://schemas.microsoft.com/office/drawing/2014/main" id="{FFAD71E9-4FFC-4229-90D2-D64A9CD2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The call connects to the operation">
            <a:extLst xmlns:a="http://schemas.openxmlformats.org/drawingml/2006/main">
              <a:ext uri="{FF2B5EF4-FFF2-40B4-BE49-F238E27FC236}">
                <a16:creationId xmlns:a16="http://schemas.microsoft.com/office/drawing/2014/main" id="{D1CEBA0C-2473-4EB0-89C7-3C7EB833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CONNECTED OPERATIONS</a:t>
            </a:r>
          </a:p>
        </p:txBody>
      </p:sp>
      <p:sp>
        <p:nvSpPr>
          <p:cNvPr id="4" name="title-The call connects to the operation">
            <a:extLst xmlns:a="http://schemas.openxmlformats.org/drawingml/2006/main">
              <a:ext uri="{FF2B5EF4-FFF2-40B4-BE49-F238E27FC236}">
                <a16:creationId xmlns:a16="http://schemas.microsoft.com/office/drawing/2014/main" id="{81F057E5-744A-4FD9-910D-7D39ABB1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The call connects to the operation</a:t>
            </a:r>
          </a:p>
        </p:txBody>
      </p:sp>
      <p:sp>
        <p:nvSpPr>
          <p:cNvPr id="5" name="subtitle-The call connects to the operation">
            <a:extLst xmlns:a="http://schemas.openxmlformats.org/drawingml/2006/main">
              <a:ext uri="{FF2B5EF4-FFF2-40B4-BE49-F238E27FC236}">
                <a16:creationId xmlns:a16="http://schemas.microsoft.com/office/drawing/2014/main" id="{FAFD51A4-F08A-42A3-B979-2CAF8634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VoiceAI turns a conversation into updates the team can act on.</a:t>
            </a:r>
          </a:p>
        </p:txBody>
      </p:sp>
      <p:sp>
        <p:nvSpPr>
          <p:cNvPr id="6" name="operations-center">
            <a:extLst xmlns:a="http://schemas.openxmlformats.org/drawingml/2006/main">
              <a:ext uri="{FF2B5EF4-FFF2-40B4-BE49-F238E27FC236}">
                <a16:creationId xmlns:a16="http://schemas.microsoft.com/office/drawing/2014/main" id="{AF909840-090D-4F91-BC2F-AE0D4FC4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289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2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7" name="operations-center-title">
            <a:extLst xmlns:a="http://schemas.openxmlformats.org/drawingml/2006/main">
              <a:ext uri="{FF2B5EF4-FFF2-40B4-BE49-F238E27FC236}">
                <a16:creationId xmlns:a16="http://schemas.microsoft.com/office/drawing/2014/main" id="{1EBFA4AA-44F4-4BAB-926E-03188703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6230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8" name="operations-center-body">
            <a:extLst xmlns:a="http://schemas.openxmlformats.org/drawingml/2006/main">
              <a:ext uri="{FF2B5EF4-FFF2-40B4-BE49-F238E27FC236}">
                <a16:creationId xmlns:a16="http://schemas.microsoft.com/office/drawing/2014/main" id="{D9148886-E74B-4FB7-B49D-1398012D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004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conversation</a:t>
            </a:r>
          </a:p>
          <a:p xmlns:a="http://schemas.openxmlformats.org/drawingml/2006/main">
            <a:pPr algn="ctr">
              <a:def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→ action</a:t>
            </a:r>
          </a:p>
        </p:txBody>
      </p:sp>
      <p:sp>
        <p:nvSpPr>
          <p:cNvPr id="9" name="operations-node-0">
            <a:extLst xmlns:a="http://schemas.openxmlformats.org/drawingml/2006/main">
              <a:ext uri="{FF2B5EF4-FFF2-40B4-BE49-F238E27FC236}">
                <a16:creationId xmlns:a16="http://schemas.microsoft.com/office/drawing/2014/main" id="{03956972-FDC2-4FEF-A90F-A00077B7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10" name="operations-dot-0">
            <a:extLst xmlns:a="http://schemas.openxmlformats.org/drawingml/2006/main">
              <a:ext uri="{FF2B5EF4-FFF2-40B4-BE49-F238E27FC236}">
                <a16:creationId xmlns:a16="http://schemas.microsoft.com/office/drawing/2014/main" id="{72D13A8B-4B35-4252-B1DC-EF51F147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perations-label-0">
            <a:extLst xmlns:a="http://schemas.openxmlformats.org/drawingml/2006/main">
              <a:ext uri="{FF2B5EF4-FFF2-40B4-BE49-F238E27FC236}">
                <a16:creationId xmlns:a16="http://schemas.microsoft.com/office/drawing/2014/main" id="{D240EA6A-77EF-46B7-8BEB-19904AA4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CUSTOMER RECORDS</a:t>
            </a:r>
          </a:p>
        </p:txBody>
      </p:sp>
      <p:sp>
        <p:nvSpPr>
          <p:cNvPr id="12" name="operations-body-0">
            <a:extLst xmlns:a="http://schemas.openxmlformats.org/drawingml/2006/main">
              <a:ext uri="{FF2B5EF4-FFF2-40B4-BE49-F238E27FC236}">
                <a16:creationId xmlns:a16="http://schemas.microsoft.com/office/drawing/2014/main" id="{C70A5616-4E56-49B4-A582-D902BAB6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History, vehicle details, active requests</a:t>
            </a:r>
          </a:p>
        </p:txBody>
      </p:sp>
      <p:cxnSp>
        <p:nvCxnSpPr>
          <p:cNvPr id="50" name=""/>
          <p:cNvCxnSpPr>
            <a:stCxn xmlns:a="http://schemas.openxmlformats.org/drawingml/2006/main" id="6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619500" y="2819400"/>
            <a:ext cx="158115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14" name="operations-node-1">
            <a:extLst xmlns:a="http://schemas.openxmlformats.org/drawingml/2006/main">
              <a:ext uri="{FF2B5EF4-FFF2-40B4-BE49-F238E27FC236}">
                <a16:creationId xmlns:a16="http://schemas.microsoft.com/office/drawing/2014/main" id="{66F5D589-6190-46F9-9683-8C7FDF54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15" name="operations-dot-1">
            <a:extLst xmlns:a="http://schemas.openxmlformats.org/drawingml/2006/main">
              <a:ext uri="{FF2B5EF4-FFF2-40B4-BE49-F238E27FC236}">
                <a16:creationId xmlns:a16="http://schemas.microsoft.com/office/drawing/2014/main" id="{3F5FD15E-D6E5-41E7-8D41-F0ACA80A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perations-label-1">
            <a:extLst xmlns:a="http://schemas.openxmlformats.org/drawingml/2006/main">
              <a:ext uri="{FF2B5EF4-FFF2-40B4-BE49-F238E27FC236}">
                <a16:creationId xmlns:a16="http://schemas.microsoft.com/office/drawing/2014/main" id="{C3B6811A-98E7-4918-84D1-2CD1FB07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52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GOOGLE CALENDAR</a:t>
            </a:r>
          </a:p>
        </p:txBody>
      </p:sp>
      <p:sp>
        <p:nvSpPr>
          <p:cNvPr id="17" name="operations-body-1">
            <a:extLst xmlns:a="http://schemas.openxmlformats.org/drawingml/2006/main">
              <a:ext uri="{FF2B5EF4-FFF2-40B4-BE49-F238E27FC236}">
                <a16:creationId xmlns:a16="http://schemas.microsoft.com/office/drawing/2014/main" id="{442A94B4-1D82-4D64-A33B-E8AAE328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38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Availability and booked slots</a:t>
            </a:r>
          </a:p>
        </p:txBody>
      </p:sp>
      <p:cxnSp>
        <p:nvCxnSpPr>
          <p:cNvPr id="55" name=""/>
          <p:cNvCxnSpPr>
            <a:stCxn xmlns:a="http://schemas.openxmlformats.org/drawingml/2006/main" id="6" idx="6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953250" y="2819400"/>
            <a:ext cx="156210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19" name="operations-node-2">
            <a:extLst xmlns:a="http://schemas.openxmlformats.org/drawingml/2006/main">
              <a:ext uri="{FF2B5EF4-FFF2-40B4-BE49-F238E27FC236}">
                <a16:creationId xmlns:a16="http://schemas.microsoft.com/office/drawing/2014/main" id="{C1BCBFA8-5912-4157-A8D3-06832BA4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20" name="operations-dot-2">
            <a:extLst xmlns:a="http://schemas.openxmlformats.org/drawingml/2006/main">
              <a:ext uri="{FF2B5EF4-FFF2-40B4-BE49-F238E27FC236}">
                <a16:creationId xmlns:a16="http://schemas.microsoft.com/office/drawing/2014/main" id="{D3BCB8B1-9BDF-4E8F-BFD6-8564F78C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perations-label-2">
            <a:extLst xmlns:a="http://schemas.openxmlformats.org/drawingml/2006/main">
              <a:ext uri="{FF2B5EF4-FFF2-40B4-BE49-F238E27FC236}">
                <a16:creationId xmlns:a16="http://schemas.microsoft.com/office/drawing/2014/main" id="{519D59A1-23D1-4BA0-82B1-0BBC30E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KNOWLEDGE BASE</a:t>
            </a:r>
          </a:p>
        </p:txBody>
      </p:sp>
      <p:sp>
        <p:nvSpPr>
          <p:cNvPr id="22" name="operations-body-2">
            <a:extLst xmlns:a="http://schemas.openxmlformats.org/drawingml/2006/main">
              <a:ext uri="{FF2B5EF4-FFF2-40B4-BE49-F238E27FC236}">
                <a16:creationId xmlns:a16="http://schemas.microsoft.com/office/drawing/2014/main" id="{6D3B446A-B61F-4018-AE9C-40F1F927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Business answers grounded in source material</a:t>
            </a:r>
          </a:p>
        </p:txBody>
      </p:sp>
      <p:cxnSp>
        <p:nvCxnSpPr>
          <p:cNvPr id="60" name=""/>
          <p:cNvCxnSpPr>
            <a:stCxn xmlns:a="http://schemas.openxmlformats.org/drawingml/2006/main" id="6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3619500" y="3505200"/>
            <a:ext cx="1581150" cy="1447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24" name="operations-node-3">
            <a:extLst xmlns:a="http://schemas.openxmlformats.org/drawingml/2006/main">
              <a:ext uri="{FF2B5EF4-FFF2-40B4-BE49-F238E27FC236}">
                <a16:creationId xmlns:a16="http://schemas.microsoft.com/office/drawing/2014/main" id="{AC18BD1D-12BC-4B48-A90C-FC6A8B04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25" name="operations-dot-3">
            <a:extLst xmlns:a="http://schemas.openxmlformats.org/drawingml/2006/main">
              <a:ext uri="{FF2B5EF4-FFF2-40B4-BE49-F238E27FC236}">
                <a16:creationId xmlns:a16="http://schemas.microsoft.com/office/drawing/2014/main" id="{F5D15694-A8BC-4221-B5C4-A8F7E71F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05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perations-label-3">
            <a:extLst xmlns:a="http://schemas.openxmlformats.org/drawingml/2006/main">
              <a:ext uri="{FF2B5EF4-FFF2-40B4-BE49-F238E27FC236}">
                <a16:creationId xmlns:a16="http://schemas.microsoft.com/office/drawing/2014/main" id="{E3737AA4-4E30-4274-B1F6-CDAB724C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863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EMAIL + SMS</a:t>
            </a:r>
          </a:p>
        </p:txBody>
      </p:sp>
      <p:sp>
        <p:nvSpPr>
          <p:cNvPr id="27" name="operations-body-3">
            <a:extLst xmlns:a="http://schemas.openxmlformats.org/drawingml/2006/main">
              <a:ext uri="{FF2B5EF4-FFF2-40B4-BE49-F238E27FC236}">
                <a16:creationId xmlns:a16="http://schemas.microsoft.com/office/drawing/2014/main" id="{D6C23B86-25C5-4F0E-BB49-39C734F4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72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Customer and staff notifications</a:t>
            </a:r>
          </a:p>
        </p:txBody>
      </p:sp>
      <p:cxnSp>
        <p:nvCxnSpPr>
          <p:cNvPr id="65" name=""/>
          <p:cNvCxnSpPr>
            <a:stCxn xmlns:a="http://schemas.openxmlformats.org/drawingml/2006/main" id="6" idx="6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6953250" y="3505200"/>
            <a:ext cx="1562100" cy="1447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29" name="operations-portal-band">
            <a:extLst xmlns:a="http://schemas.openxmlformats.org/drawingml/2006/main">
              <a:ext uri="{FF2B5EF4-FFF2-40B4-BE49-F238E27FC236}">
                <a16:creationId xmlns:a16="http://schemas.microsoft.com/office/drawing/2014/main" id="{18797C65-58CB-415A-919D-6B1D3BD8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102489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2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perations-portal-title">
            <a:extLst xmlns:a="http://schemas.openxmlformats.org/drawingml/2006/main">
              <a:ext uri="{FF2B5EF4-FFF2-40B4-BE49-F238E27FC236}">
                <a16:creationId xmlns:a16="http://schemas.microsoft.com/office/drawing/2014/main" id="{C5B5B91C-F236-4F84-9255-628FEFB5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67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STAFF PORTAL</a:t>
            </a:r>
          </a:p>
        </p:txBody>
      </p:sp>
      <p:sp>
        <p:nvSpPr>
          <p:cNvPr id="31" name="operations-portal-transcripts">
            <a:extLst xmlns:a="http://schemas.openxmlformats.org/drawingml/2006/main">
              <a:ext uri="{FF2B5EF4-FFF2-40B4-BE49-F238E27FC236}">
                <a16:creationId xmlns:a16="http://schemas.microsoft.com/office/drawing/2014/main" id="{4FF5F6A2-EC19-4DE1-963E-7C14E9BD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674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Transcripts</a:t>
            </a:r>
          </a:p>
        </p:txBody>
      </p:sp>
      <p:sp>
        <p:nvSpPr>
          <p:cNvPr id="32" name="operations-portal-catalog">
            <a:extLst xmlns:a="http://schemas.openxmlformats.org/drawingml/2006/main">
              <a:ext uri="{FF2B5EF4-FFF2-40B4-BE49-F238E27FC236}">
                <a16:creationId xmlns:a16="http://schemas.microsoft.com/office/drawing/2014/main" id="{B9672FFC-A05D-4993-B0AE-04AA505F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674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Service catalog</a:t>
            </a:r>
          </a:p>
        </p:txBody>
      </p:sp>
      <p:sp>
        <p:nvSpPr>
          <p:cNvPr id="33" name="operations-portal-calendar">
            <a:extLst xmlns:a="http://schemas.openxmlformats.org/drawingml/2006/main">
              <a:ext uri="{FF2B5EF4-FFF2-40B4-BE49-F238E27FC236}">
                <a16:creationId xmlns:a16="http://schemas.microsoft.com/office/drawing/2014/main" id="{CEE3AEA7-AE52-4D2A-BEE0-5415A4A7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67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Calendar controls</a:t>
            </a:r>
          </a:p>
        </p:txBody>
      </p:sp>
      <p:sp>
        <p:nvSpPr>
          <p:cNvPr id="34" name="operations-portal-escalation">
            <a:extLst xmlns:a="http://schemas.openxmlformats.org/drawingml/2006/main">
              <a:ext uri="{FF2B5EF4-FFF2-40B4-BE49-F238E27FC236}">
                <a16:creationId xmlns:a16="http://schemas.microsoft.com/office/drawing/2014/main" id="{A6AB76F9-EE17-4BEF-A518-1FD77776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674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Escalation visibility</a:t>
            </a:r>
          </a:p>
        </p:txBody>
      </p:sp>
      <p:sp>
        <p:nvSpPr>
          <p:cNvPr id="3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B594776E-0325-4A46-BD5E-1BD8D04F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E2"/>
            </a:solidFill>
            <a:prstDash val="solid"/>
          </a:ln>
        </p:spPr>
      </p:sp>
      <p:sp>
        <p:nvSpPr>
          <p:cNvPr id="36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09CDAC40-9016-4D11-A47D-997E87FF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FF199F13-C206-49D2-BBD8-715B3096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1628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close-brand">
            <a:extLst xmlns:a="http://schemas.openxmlformats.org/drawingml/2006/main">
              <a:ext uri="{FF2B5EF4-FFF2-40B4-BE49-F238E27FC236}">
                <a16:creationId xmlns:a16="http://schemas.microsoft.com/office/drawing/2014/main" id="{A6697538-3DE0-4E9E-951B-3484EA86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334A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" name="close-brand-text">
            <a:extLst xmlns:a="http://schemas.openxmlformats.org/drawingml/2006/main">
              <a:ext uri="{FF2B5EF4-FFF2-40B4-BE49-F238E27FC236}">
                <a16:creationId xmlns:a16="http://schemas.microsoft.com/office/drawing/2014/main" id="{18343659-F39A-4285-A22A-06A1FD53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Start with one high-volume call flow">
            <a:extLst xmlns:a="http://schemas.openxmlformats.org/drawingml/2006/main">
              <a:ext uri="{FF2B5EF4-FFF2-40B4-BE49-F238E27FC236}">
                <a16:creationId xmlns:a16="http://schemas.microsoft.com/office/drawing/2014/main" id="{E562ADA3-7F9F-4922-A623-2B28A14D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A PRACTICAL STARTING POINT</a:t>
            </a:r>
          </a:p>
        </p:txBody>
      </p:sp>
      <p:sp>
        <p:nvSpPr>
          <p:cNvPr id="4" name="title-Start with one high-volume call flow">
            <a:extLst xmlns:a="http://schemas.openxmlformats.org/drawingml/2006/main">
              <a:ext uri="{FF2B5EF4-FFF2-40B4-BE49-F238E27FC236}">
                <a16:creationId xmlns:a16="http://schemas.microsoft.com/office/drawing/2014/main" id="{5CA78014-0197-4BD9-9E3B-7FD54722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Start with one high-volume call flow</a:t>
            </a:r>
          </a:p>
        </p:txBody>
      </p:sp>
      <p:sp>
        <p:nvSpPr>
          <p:cNvPr id="5" name="subtitle-Start with one high-volume call flow">
            <a:extLst xmlns:a="http://schemas.openxmlformats.org/drawingml/2006/main">
              <a:ext uri="{FF2B5EF4-FFF2-40B4-BE49-F238E27FC236}">
                <a16:creationId xmlns:a16="http://schemas.microsoft.com/office/drawing/2014/main" id="{8577BACC-B8D4-4FF8-94D3-7E398B84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rPr>
              <a:t>A focused pilot lets the team map the conversation, the systems it touches, and the next operational step.</a:t>
            </a:r>
          </a:p>
        </p:txBody>
      </p:sp>
      <p:sp>
        <p:nvSpPr>
          <p:cNvPr id="6" name="close-example-kicker">
            <a:extLst xmlns:a="http://schemas.openxmlformats.org/drawingml/2006/main">
              <a:ext uri="{FF2B5EF4-FFF2-40B4-BE49-F238E27FC236}">
                <a16:creationId xmlns:a16="http://schemas.microsoft.com/office/drawing/2014/main" id="{0DDD4BA9-BBC1-40C5-A6FC-65C95ED0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AUTO-SERVICE EXAMPLE</a:t>
            </a:r>
          </a:p>
        </p:txBody>
      </p:sp>
      <p:sp>
        <p:nvSpPr>
          <p:cNvPr id="7" name="close-example-body">
            <a:extLst xmlns:a="http://schemas.openxmlformats.org/drawingml/2006/main">
              <a:ext uri="{FF2B5EF4-FFF2-40B4-BE49-F238E27FC236}">
                <a16:creationId xmlns:a16="http://schemas.microsoft.com/office/drawing/2014/main" id="{28BCA8D0-D623-4258-A84B-E2118294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brake-repair call becomes a captured service request, a viable appointment slot, and a clear staff follow-up.</a:t>
            </a:r>
          </a:p>
        </p:txBody>
      </p:sp>
      <p:sp>
        <p:nvSpPr>
          <p:cNvPr id="8" name="close-rule">
            <a:extLst xmlns:a="http://schemas.openxmlformats.org/drawingml/2006/main">
              <a:ext uri="{FF2B5EF4-FFF2-40B4-BE49-F238E27FC236}">
                <a16:creationId xmlns:a16="http://schemas.microsoft.com/office/drawing/2014/main" id="{4058F482-E008-4079-AFAC-83CEEBD5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C"/>
            </a:solidFill>
            <a:prstDash val="solid"/>
          </a:ln>
        </p:spPr>
      </p:sp>
      <p:sp>
        <p:nvSpPr>
          <p:cNvPr id="9" name="close-pilot-label">
            <a:extLst xmlns:a="http://schemas.openxmlformats.org/drawingml/2006/main">
              <a:ext uri="{FF2B5EF4-FFF2-40B4-BE49-F238E27FC236}">
                <a16:creationId xmlns:a16="http://schemas.microsoft.com/office/drawing/2014/main" id="{1818028A-FE5A-4F6F-8147-23AB2767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Pilot scope</a:t>
            </a:r>
          </a:p>
        </p:txBody>
      </p:sp>
      <p:sp>
        <p:nvSpPr>
          <p:cNvPr id="10" name="close-pilot-list">
            <a:extLst xmlns:a="http://schemas.openxmlformats.org/drawingml/2006/main">
              <a:ext uri="{FF2B5EF4-FFF2-40B4-BE49-F238E27FC236}">
                <a16:creationId xmlns:a16="http://schemas.microsoft.com/office/drawing/2014/main" id="{97593440-F4D5-40C2-BFA2-7E05797A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rPr>
              <a:t>Configure the service catalog</a:t>
            </a:r>
          </a:p>
          <a:p xmlns:a="http://schemas.openxmlformats.org/drawingml/2006/main">
            <a:pPr>
              <a:def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rPr>
              <a:t>Connect calendars and notifications</a:t>
            </a:r>
          </a:p>
          <a:p xmlns:a="http://schemas.openxmlformats.org/drawingml/2006/main">
            <a:pPr>
              <a:def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rPr>
              <a:t>Review transcripts and exceptions</a:t>
            </a:r>
          </a:p>
        </p:txBody>
      </p:sp>
      <p:sp>
        <p:nvSpPr>
          <p:cNvPr id="11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36736893-917F-449D-9AFB-EDDF6883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Use the first pilot to map one workflow and the systems it touches.</a:t>
            </a:r>
          </a:p>
        </p:txBody>
      </p:sp>
      <p:sp>
        <p:nvSpPr>
          <p:cNvPr id="12" name="close-portal-frame">
            <a:extLst xmlns:a="http://schemas.openxmlformats.org/drawingml/2006/main">
              <a:ext uri="{FF2B5EF4-FFF2-40B4-BE49-F238E27FC236}">
                <a16:creationId xmlns:a16="http://schemas.microsoft.com/office/drawing/2014/main" id="{CA15758C-5F52-4A13-AA29-20291113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05050"/>
            <a:ext cx="41719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102C41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3" name="close-portal-title">
            <a:extLst xmlns:a="http://schemas.openxmlformats.org/drawingml/2006/main">
              <a:ext uri="{FF2B5EF4-FFF2-40B4-BE49-F238E27FC236}">
                <a16:creationId xmlns:a16="http://schemas.microsoft.com/office/drawing/2014/main" id="{416BE717-D6E7-4ED2-A742-AE1BA38B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STAFF PORTAL</a:t>
            </a:r>
          </a:p>
        </p:txBody>
      </p:sp>
      <p:sp>
        <p:nvSpPr>
          <p:cNvPr id="14" name="close-portal-rule">
            <a:extLst xmlns:a="http://schemas.openxmlformats.org/drawingml/2006/main">
              <a:ext uri="{FF2B5EF4-FFF2-40B4-BE49-F238E27FC236}">
                <a16:creationId xmlns:a16="http://schemas.microsoft.com/office/drawing/2014/main" id="{54E828A2-110C-4BA1-9A63-FFC2FB07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5" name="close-portal-dot-0">
            <a:extLst xmlns:a="http://schemas.openxmlformats.org/drawingml/2006/main">
              <a:ext uri="{FF2B5EF4-FFF2-40B4-BE49-F238E27FC236}">
                <a16:creationId xmlns:a16="http://schemas.microsoft.com/office/drawing/2014/main" id="{6632A281-ABDA-4DD8-9508-FD5FDA65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e-portal-row-label-0">
            <a:extLst xmlns:a="http://schemas.openxmlformats.org/drawingml/2006/main">
              <a:ext uri="{FF2B5EF4-FFF2-40B4-BE49-F238E27FC236}">
                <a16:creationId xmlns:a16="http://schemas.microsoft.com/office/drawing/2014/main" id="{BF59AFA8-53FD-4513-8F90-5525521E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81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Service catalog</a:t>
            </a:r>
          </a:p>
        </p:txBody>
      </p:sp>
      <p:sp>
        <p:nvSpPr>
          <p:cNvPr id="17" name="close-portal-row-body-0">
            <a:extLst xmlns:a="http://schemas.openxmlformats.org/drawingml/2006/main">
              <a:ext uri="{FF2B5EF4-FFF2-40B4-BE49-F238E27FC236}">
                <a16:creationId xmlns:a16="http://schemas.microsoft.com/office/drawing/2014/main" id="{084FDB56-A715-4709-8E2A-06B3AFE6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Edit offers and intake fields</a:t>
            </a:r>
          </a:p>
        </p:txBody>
      </p:sp>
      <p:sp>
        <p:nvSpPr>
          <p:cNvPr id="18" name="close-portal-row-rule-0">
            <a:extLst xmlns:a="http://schemas.openxmlformats.org/drawingml/2006/main">
              <a:ext uri="{FF2B5EF4-FFF2-40B4-BE49-F238E27FC236}">
                <a16:creationId xmlns:a16="http://schemas.microsoft.com/office/drawing/2014/main" id="{C2C0BB9F-F882-42E9-9419-1CC8431D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19" name="close-portal-dot-1">
            <a:extLst xmlns:a="http://schemas.openxmlformats.org/drawingml/2006/main">
              <a:ext uri="{FF2B5EF4-FFF2-40B4-BE49-F238E27FC236}">
                <a16:creationId xmlns:a16="http://schemas.microsoft.com/office/drawing/2014/main" id="{89D8D4C8-C10C-4996-9791-D90E8FE6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ose-portal-row-label-1">
            <a:extLst xmlns:a="http://schemas.openxmlformats.org/drawingml/2006/main">
              <a:ext uri="{FF2B5EF4-FFF2-40B4-BE49-F238E27FC236}">
                <a16:creationId xmlns:a16="http://schemas.microsoft.com/office/drawing/2014/main" id="{D9122A13-AFA9-4E21-B481-B726AD5B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Calendar controls</a:t>
            </a:r>
          </a:p>
        </p:txBody>
      </p:sp>
      <p:sp>
        <p:nvSpPr>
          <p:cNvPr id="21" name="close-portal-row-body-1">
            <a:extLst xmlns:a="http://schemas.openxmlformats.org/drawingml/2006/main">
              <a:ext uri="{FF2B5EF4-FFF2-40B4-BE49-F238E27FC236}">
                <a16:creationId xmlns:a16="http://schemas.microsoft.com/office/drawing/2014/main" id="{C9A52EA3-D889-4A11-AF06-DDE29C07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76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Manage availability and bookings</a:t>
            </a:r>
          </a:p>
        </p:txBody>
      </p:sp>
      <p:sp>
        <p:nvSpPr>
          <p:cNvPr id="22" name="close-portal-row-rule-1">
            <a:extLst xmlns:a="http://schemas.openxmlformats.org/drawingml/2006/main">
              <a:ext uri="{FF2B5EF4-FFF2-40B4-BE49-F238E27FC236}">
                <a16:creationId xmlns:a16="http://schemas.microsoft.com/office/drawing/2014/main" id="{8A88733F-841C-4BB9-AC47-B1996689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23" name="close-portal-dot-2">
            <a:extLst xmlns:a="http://schemas.openxmlformats.org/drawingml/2006/main">
              <a:ext uri="{FF2B5EF4-FFF2-40B4-BE49-F238E27FC236}">
                <a16:creationId xmlns:a16="http://schemas.microsoft.com/office/drawing/2014/main" id="{514A22AC-12B8-40AA-82A8-EB024616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F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ose-portal-row-label-2">
            <a:extLst xmlns:a="http://schemas.openxmlformats.org/drawingml/2006/main">
              <a:ext uri="{FF2B5EF4-FFF2-40B4-BE49-F238E27FC236}">
                <a16:creationId xmlns:a16="http://schemas.microsoft.com/office/drawing/2014/main" id="{84EBD71A-BB91-4AD4-8637-32371709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71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Transcript review</a:t>
            </a:r>
          </a:p>
        </p:txBody>
      </p:sp>
      <p:sp>
        <p:nvSpPr>
          <p:cNvPr id="25" name="close-portal-row-body-2">
            <a:extLst xmlns:a="http://schemas.openxmlformats.org/drawingml/2006/main">
              <a:ext uri="{FF2B5EF4-FFF2-40B4-BE49-F238E27FC236}">
                <a16:creationId xmlns:a16="http://schemas.microsoft.com/office/drawing/2014/main" id="{3989E3A6-6B94-4581-978B-19D84C76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71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See summaries and full call context</a:t>
            </a:r>
          </a:p>
        </p:txBody>
      </p:sp>
      <p:sp>
        <p:nvSpPr>
          <p:cNvPr id="26" name="close-portal-row-rule-2">
            <a:extLst xmlns:a="http://schemas.openxmlformats.org/drawingml/2006/main">
              <a:ext uri="{FF2B5EF4-FFF2-40B4-BE49-F238E27FC236}">
                <a16:creationId xmlns:a16="http://schemas.microsoft.com/office/drawing/2014/main" id="{59F742ED-65FA-4710-9BAD-52B2C8EA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27" name="close-portal-dot-3">
            <a:extLst xmlns:a="http://schemas.openxmlformats.org/drawingml/2006/main">
              <a:ext uri="{FF2B5EF4-FFF2-40B4-BE49-F238E27FC236}">
                <a16:creationId xmlns:a16="http://schemas.microsoft.com/office/drawing/2014/main" id="{172EB177-F471-434C-9C76-E4C65F47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ose-portal-row-label-3">
            <a:extLst xmlns:a="http://schemas.openxmlformats.org/drawingml/2006/main">
              <a:ext uri="{FF2B5EF4-FFF2-40B4-BE49-F238E27FC236}">
                <a16:creationId xmlns:a16="http://schemas.microsoft.com/office/drawing/2014/main" id="{5AB53C74-E3CC-41D5-9295-8193131A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67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Escalation queue</a:t>
            </a:r>
          </a:p>
        </p:txBody>
      </p:sp>
      <p:sp>
        <p:nvSpPr>
          <p:cNvPr id="29" name="close-portal-row-body-3">
            <a:extLst xmlns:a="http://schemas.openxmlformats.org/drawingml/2006/main">
              <a:ext uri="{FF2B5EF4-FFF2-40B4-BE49-F238E27FC236}">
                <a16:creationId xmlns:a16="http://schemas.microsoft.com/office/drawing/2014/main" id="{4EC493B0-0C9E-4D5C-A194-56B4ECEB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672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Surface exceptions for staff</a:t>
            </a:r>
          </a:p>
        </p:txBody>
      </p:sp>
      <p:sp>
        <p:nvSpPr>
          <p:cNvPr id="30" name="close-contact-placeholder">
            <a:extLst xmlns:a="http://schemas.openxmlformats.org/drawingml/2006/main">
              <a:ext uri="{FF2B5EF4-FFF2-40B4-BE49-F238E27FC236}">
                <a16:creationId xmlns:a16="http://schemas.microsoft.com/office/drawing/2014/main" id="{6608B168-FE14-4833-A9DB-F8459ECE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531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CONTACT / DEMO</a:t>
            </a:r>
          </a:p>
        </p:txBody>
      </p:sp>
      <p:sp>
        <p:nvSpPr>
          <p:cNvPr id="31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DD627969-B9E5-41DC-B8B9-94855F0D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C"/>
            </a:solidFill>
            <a:prstDash val="solid"/>
          </a:ln>
        </p:spPr>
      </p:sp>
      <p:sp>
        <p:nvSpPr>
          <p:cNvPr id="32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76C3AAA8-A882-4740-99EA-C78114B9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B5966DC3-6ADD-42DF-B010-935FEDFB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84035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2026-10-05T20:53:39.7660000Z</dcterms:created>
  <dcterms:modified xsi:type="dcterms:W3CDTF">2026-10-05T20:53:39.7660000Z</dcterms:modified>
</coreProperties>
</file>