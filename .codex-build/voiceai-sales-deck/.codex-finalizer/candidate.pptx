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1b8c96af6b4192" /><Relationship Type="http://schemas.openxmlformats.org/officeDocument/2006/relationships/extended-properties" Target="/docProps/app.xml" Id="R791da58bd0b74cb1" /><Relationship Type="http://schemas.openxmlformats.org/officeDocument/2006/relationships/officeDocument" Target="/ppt/presentation.xml" Id="Rb991f55cb6d447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bdd7cd651c42d3"/>
  </p:sldMasterIdLst>
  <p:notesMasterIdLst>
    <p:notesMasterId xmlns:r="http://schemas.openxmlformats.org/officeDocument/2006/relationships" r:id="R8ea045d3eda448ea"/>
  </p:notesMasterIdLst>
  <p:sldIdLst>
    <p:sldId xmlns:r="http://schemas.openxmlformats.org/officeDocument/2006/relationships" id="256" r:id="Rcfbd7c6c42704984"/>
    <p:sldId xmlns:r="http://schemas.openxmlformats.org/officeDocument/2006/relationships" id="257" r:id="R82f88f6cb3a54b8e"/>
    <p:sldId xmlns:r="http://schemas.openxmlformats.org/officeDocument/2006/relationships" id="258" r:id="Rd2541f5c78364e54"/>
    <p:sldId xmlns:r="http://schemas.openxmlformats.org/officeDocument/2006/relationships" id="259" r:id="R5b732b1a016d4b66"/>
    <p:sldId xmlns:r="http://schemas.openxmlformats.org/officeDocument/2006/relationships" id="260" r:id="R40147299947449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53bfa657cd4e22" /><Relationship Type="http://schemas.openxmlformats.org/officeDocument/2006/relationships/slideMaster" Target="/ppt/slideMasters/slideMaster1.xml" Id="Rfbbdd7cd651c42d3" /><Relationship Type="http://schemas.openxmlformats.org/officeDocument/2006/relationships/notesMaster" Target="/ppt/notesMasters/notesMaster1.xml" Id="R8ea045d3eda448ea" /><Relationship Type="http://schemas.openxmlformats.org/officeDocument/2006/relationships/presProps" Target="/ppt/presProps.xml" Id="R6aa40053f8f947ed" /><Relationship Type="http://schemas.openxmlformats.org/officeDocument/2006/relationships/tableStyles" Target="/ppt/tableStyles.xml" Id="R80434c7481eb4df7" /><Relationship Type="http://schemas.openxmlformats.org/officeDocument/2006/relationships/slide" Target="/ppt/slides/slide1.xml" Id="Rcfbd7c6c42704984" /><Relationship Type="http://schemas.openxmlformats.org/officeDocument/2006/relationships/slide" Target="/ppt/slides/slide2.xml" Id="R82f88f6cb3a54b8e" /><Relationship Type="http://schemas.openxmlformats.org/officeDocument/2006/relationships/slide" Target="/ppt/slides/slide3.xml" Id="Rd2541f5c78364e54" /><Relationship Type="http://schemas.openxmlformats.org/officeDocument/2006/relationships/slide" Target="/ppt/slides/slide4.xml" Id="R5b732b1a016d4b66" /><Relationship Type="http://schemas.openxmlformats.org/officeDocument/2006/relationships/slide" Target="/ppt/slides/slide5.xml" Id="R40147299947449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b98c8dcac34e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0430577d564df5" /><Relationship Type="http://schemas.openxmlformats.org/officeDocument/2006/relationships/notesMaster" Target="/ppt/notesMasters/notesMaster1.xml" Id="Ra43589b5d43a42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f57c33b71f40d5" /><Relationship Type="http://schemas.openxmlformats.org/officeDocument/2006/relationships/notesMaster" Target="/ppt/notesMasters/notesMaster1.xml" Id="Rc3cfcaa0714246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78a39799044d0c" /><Relationship Type="http://schemas.openxmlformats.org/officeDocument/2006/relationships/notesMaster" Target="/ppt/notesMasters/notesMaster1.xml" Id="R72e5f75de9f548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7e85046d20434e" /><Relationship Type="http://schemas.openxmlformats.org/officeDocument/2006/relationships/notesMaster" Target="/ppt/notesMasters/notesMaster1.xml" Id="R001ee325c92444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fbf5d649f24440" /><Relationship Type="http://schemas.openxmlformats.org/officeDocument/2006/relationships/notesMaster" Target="/ppt/notesMasters/notesMaster1.xml" Id="Rf7550442928847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Product positioning and capabilities synthesized from README.md, docs/PRD.md, and docs/RELEASE_NOTE_v0.1.md. Cover artwork generated for this deck and contains no external brand or factual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Problem framing is a concise synthesis of the problem statement and value proposition in docs/PRD.md. No performance metrics are claimed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Workflow based on serviceBot/graph/state.py, serviceBot/graph/routing.py, serviceBot/graph/nodes.py, and the capabilities documented in README.md and docs/RELEASE_NOTE_v0.1.md.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Integrations and portal capabilities based on serviceBot/services/calendar_availability.py, serviceBot/services/google_calendar.py, serviceBot/services/rag.py, serviceBot/services/gmail.py, serviceBot/services/twilio_sms.py, serviceBot/static/index.html, and docs/RELEASE_NOTE_v0.1.md.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Closing workflow and portal capabilities based on docs/PRD.md, README.md, serviceBot/static/index.html, and docs/RELEASE_NOTE_v0.1.md. Copy intentionally avoids unsupported ROI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cd9e9fee5d4a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7a833475e342bf" /><Relationship Type="http://schemas.openxmlformats.org/officeDocument/2006/relationships/slideLayout" Target="/ppt/slideLayouts/slideLayout1.xml" Id="R95989c726da845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989c726da845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e676d79bc4741" /><Relationship Type="http://schemas.openxmlformats.org/officeDocument/2006/relationships/image" Target="/ppt/media/image.png" Id="R30b07f21d3ea48fb" /><Relationship Type="http://schemas.openxmlformats.org/officeDocument/2006/relationships/notesSlide" Target="/ppt/notesSlides/notesSlide1.xml" Id="Rb083332c16504c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fe6432e85403a" /><Relationship Type="http://schemas.openxmlformats.org/officeDocument/2006/relationships/notesSlide" Target="/ppt/notesSlides/notesSlide2.xml" Id="R85fec6d42bf149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2ed570bed4569" /><Relationship Type="http://schemas.openxmlformats.org/officeDocument/2006/relationships/notesSlide" Target="/ppt/notesSlides/notesSlide3.xml" Id="R0ad0703b3d3f4d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40ba30d334166" /><Relationship Type="http://schemas.openxmlformats.org/officeDocument/2006/relationships/notesSlide" Target="/ppt/notesSlides/notesSlide4.xml" Id="R682bddd30ab249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8c8ea4b2149dd" /><Relationship Type="http://schemas.openxmlformats.org/officeDocument/2006/relationships/notesSlide" Target="/ppt/notesSlides/notesSlide5.xml" Id="Rcee7c9abf42746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07f21d3ea48f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left-scrim">
            <a:extLst xmlns:a="http://schemas.openxmlformats.org/drawingml/2006/main">
              <a:ext uri="{FF2B5EF4-FFF2-40B4-BE49-F238E27FC236}">
                <a16:creationId xmlns:a16="http://schemas.microsoft.com/office/drawing/2014/main" id="{135381AE-07C0-437B-9687-7B9B3432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brand">
            <a:extLst xmlns:a="http://schemas.openxmlformats.org/drawingml/2006/main">
              <a:ext uri="{FF2B5EF4-FFF2-40B4-BE49-F238E27FC236}">
                <a16:creationId xmlns:a16="http://schemas.microsoft.com/office/drawing/2014/main" id="{69A29B05-4162-4B5F-BCAD-C6E15DE2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334A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4" name="cover-brand-text">
            <a:extLst xmlns:a="http://schemas.openxmlformats.org/drawingml/2006/main">
              <a:ext uri="{FF2B5EF4-FFF2-40B4-BE49-F238E27FC236}">
                <a16:creationId xmlns:a16="http://schemas.microsoft.com/office/drawing/2014/main" id="{482A78A3-CA4E-442C-8906-EBA8584E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862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0E179A1-4101-49BC-A0FE-E3C21739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SALES PRESENTATION</a:t>
            </a:r>
          </a:p>
        </p:txBody>
      </p:sp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3373E6B-8E50-4C05-B8C4-04303D41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FE1D2"/>
            </a:solidFill>
            <a:prstDash val="solid"/>
          </a:ln>
        </p:spPr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F1E07F8-6BF3-45C8-9574-ED90D65B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C37F514-FC30-4390-803F-82BADCD0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Conversational inbound call handling for service businesses.</a:t>
            </a:r>
          </a:p>
        </p:txBody>
      </p:sp>
      <p:sp>
        <p:nvSpPr>
          <p:cNvPr id="9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F3A1389E-8B27-4846-B122-EEC89784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452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B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B9CBD3"/>
                </a:solidFill>
                <a:latin typeface="Helvetica Neue"/>
                <a:ea typeface="Helvetica Neue"/>
                <a:cs typeface="Helvetica Neue"/>
              </a:rPr>
              <a:t>One voice conversation can capture the request, answer questions, and start the next operational step.</a:t>
            </a:r>
          </a:p>
        </p:txBody>
      </p:sp>
      <p:sp>
        <p:nvSpPr>
          <p:cNvPr id="10" name="cover-footer-label">
            <a:extLst xmlns:a="http://schemas.openxmlformats.org/drawingml/2006/main">
              <a:ext uri="{FF2B5EF4-FFF2-40B4-BE49-F238E27FC236}">
                <a16:creationId xmlns:a16="http://schemas.microsoft.com/office/drawing/2014/main" id="{E77F3765-8AA7-468A-8FB1-9D4D9EC6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6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PRODUCT OVERVIEW</a:t>
            </a:r>
          </a:p>
        </p:txBody>
      </p:sp>
    </p:spTree>
    <p:extLst>
      <p:ext uri="{BB962C8B-B14F-4D97-AF65-F5344CB8AC3E}">
        <p14:creationId xmlns:p14="http://schemas.microsoft.com/office/powerpoint/2010/main" val="197113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roblem-brand">
            <a:extLst xmlns:a="http://schemas.openxmlformats.org/drawingml/2006/main">
              <a:ext uri="{FF2B5EF4-FFF2-40B4-BE49-F238E27FC236}">
                <a16:creationId xmlns:a16="http://schemas.microsoft.com/office/drawing/2014/main" id="{B08939FE-28CA-4691-93ED-6B5F7561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9525">
            <a:solidFill>
              <a:srgbClr val="A8C9C6"/>
            </a:solidFill>
            <a:prstDash val="solid"/>
          </a:ln>
        </p:spPr>
      </p:sp>
      <p:sp>
        <p:nvSpPr>
          <p:cNvPr id="2" name="problem-brand-text">
            <a:extLst xmlns:a="http://schemas.openxmlformats.org/drawingml/2006/main">
              <a:ext uri="{FF2B5EF4-FFF2-40B4-BE49-F238E27FC236}">
                <a16:creationId xmlns:a16="http://schemas.microsoft.com/office/drawing/2014/main" id="{8F532AF9-B463-4B8C-8386-8EF7F16A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The phone is where service demand begins">
            <a:extLst xmlns:a="http://schemas.openxmlformats.org/drawingml/2006/main">
              <a:ext uri="{FF2B5EF4-FFF2-40B4-BE49-F238E27FC236}">
                <a16:creationId xmlns:a16="http://schemas.microsoft.com/office/drawing/2014/main" id="{E7BC45D8-C099-401E-A202-AFBA2098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THE BUSINESS PROBLEM</a:t>
            </a:r>
          </a:p>
        </p:txBody>
      </p:sp>
      <p:sp>
        <p:nvSpPr>
          <p:cNvPr id="4" name="title-The phone is where service demand begins">
            <a:extLst xmlns:a="http://schemas.openxmlformats.org/drawingml/2006/main">
              <a:ext uri="{FF2B5EF4-FFF2-40B4-BE49-F238E27FC236}">
                <a16:creationId xmlns:a16="http://schemas.microsoft.com/office/drawing/2014/main" id="{A603C7A9-AC6A-4D7C-9CEA-38ED613C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The phone is where service demand begins</a:t>
            </a:r>
          </a:p>
        </p:txBody>
      </p:sp>
      <p:sp>
        <p:nvSpPr>
          <p:cNvPr id="5" name="subtitle-The phone is where service demand begins">
            <a:extLst xmlns:a="http://schemas.openxmlformats.org/drawingml/2006/main">
              <a:ext uri="{FF2B5EF4-FFF2-40B4-BE49-F238E27FC236}">
                <a16:creationId xmlns:a16="http://schemas.microsoft.com/office/drawing/2014/main" id="{DA75E267-6F10-4581-B61E-59654633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When staff cannot answer, the work does not wait.</a:t>
            </a:r>
          </a:p>
        </p:txBody>
      </p:sp>
      <p:sp>
        <p:nvSpPr>
          <p:cNvPr id="6" name="problem-dot-0">
            <a:extLst xmlns:a="http://schemas.openxmlformats.org/drawingml/2006/main">
              <a:ext uri="{FF2B5EF4-FFF2-40B4-BE49-F238E27FC236}">
                <a16:creationId xmlns:a16="http://schemas.microsoft.com/office/drawing/2014/main" id="{A5629B27-8234-456A-A313-C2474CD5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label-0">
            <a:extLst xmlns:a="http://schemas.openxmlformats.org/drawingml/2006/main">
              <a:ext uri="{FF2B5EF4-FFF2-40B4-BE49-F238E27FC236}">
                <a16:creationId xmlns:a16="http://schemas.microsoft.com/office/drawing/2014/main" id="{4A8AE2FD-D1BC-46B7-BC05-FFFAE03C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MISSED CALLS</a:t>
            </a:r>
          </a:p>
        </p:txBody>
      </p:sp>
      <p:sp>
        <p:nvSpPr>
          <p:cNvPr id="8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F5BE2B70-637D-4144-A4FB-FB2F1114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908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A customer leaves before anyone responds.</a:t>
            </a:r>
          </a:p>
        </p:txBody>
      </p:sp>
      <p:sp>
        <p:nvSpPr>
          <p:cNvPr id="9" name="problem-rule-0">
            <a:extLst xmlns:a="http://schemas.openxmlformats.org/drawingml/2006/main">
              <a:ext uri="{FF2B5EF4-FFF2-40B4-BE49-F238E27FC236}">
                <a16:creationId xmlns:a16="http://schemas.microsoft.com/office/drawing/2014/main" id="{9381EF04-1B11-46D4-B077-8FEB0C1C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440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10" name="problem-dot-1">
            <a:extLst xmlns:a="http://schemas.openxmlformats.org/drawingml/2006/main">
              <a:ext uri="{FF2B5EF4-FFF2-40B4-BE49-F238E27FC236}">
                <a16:creationId xmlns:a16="http://schemas.microsoft.com/office/drawing/2014/main" id="{6FD0FABF-C17D-4CF9-9B57-65E1E4DB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label-1">
            <a:extLst xmlns:a="http://schemas.openxmlformats.org/drawingml/2006/main">
              <a:ext uri="{FF2B5EF4-FFF2-40B4-BE49-F238E27FC236}">
                <a16:creationId xmlns:a16="http://schemas.microsoft.com/office/drawing/2014/main" id="{F908BEFE-A217-4155-AB88-D8EDC998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REPETITIVE FRONT-DESK WORK</a:t>
            </a:r>
          </a:p>
        </p:txBody>
      </p:sp>
      <p:sp>
        <p:nvSpPr>
          <p:cNvPr id="12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C7425CFD-59C6-4FE2-A3E8-309A6983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623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Staff re-enter the same details across tools.</a:t>
            </a:r>
          </a:p>
        </p:txBody>
      </p:sp>
      <p:sp>
        <p:nvSpPr>
          <p:cNvPr id="13" name="problem-rule-1">
            <a:extLst xmlns:a="http://schemas.openxmlformats.org/drawingml/2006/main">
              <a:ext uri="{FF2B5EF4-FFF2-40B4-BE49-F238E27FC236}">
                <a16:creationId xmlns:a16="http://schemas.microsoft.com/office/drawing/2014/main" id="{CF983B91-8C32-47EE-BA68-6E4ED8AC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440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14" name="problem-dot-2">
            <a:extLst xmlns:a="http://schemas.openxmlformats.org/drawingml/2006/main">
              <a:ext uri="{FF2B5EF4-FFF2-40B4-BE49-F238E27FC236}">
                <a16:creationId xmlns:a16="http://schemas.microsoft.com/office/drawing/2014/main" id="{B43BC00A-25F1-4B3A-8FB5-C32E2BF1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blem-label-2">
            <a:extLst xmlns:a="http://schemas.openxmlformats.org/drawingml/2006/main">
              <a:ext uri="{FF2B5EF4-FFF2-40B4-BE49-F238E27FC236}">
                <a16:creationId xmlns:a16="http://schemas.microsoft.com/office/drawing/2014/main" id="{45A9CAB4-A3F1-47DD-865D-BA3F9DF5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FRAGMENTED FOLLOW-THROUGH</a:t>
            </a:r>
          </a:p>
        </p:txBody>
      </p:sp>
      <p:sp>
        <p:nvSpPr>
          <p:cNvPr id="16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C4E24226-696D-4F33-8181-E83D3330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Bookings, reminders, and handoffs depend on manual coordination.</a:t>
            </a:r>
          </a:p>
        </p:txBody>
      </p:sp>
      <p:sp>
        <p:nvSpPr>
          <p:cNvPr id="17" name="problem-before-label">
            <a:extLst xmlns:a="http://schemas.openxmlformats.org/drawingml/2006/main">
              <a:ext uri="{FF2B5EF4-FFF2-40B4-BE49-F238E27FC236}">
                <a16:creationId xmlns:a16="http://schemas.microsoft.com/office/drawing/2014/main" id="{51D26C87-A4D0-441D-BF9E-FB4B5906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WHEN THE TEAM IS BUSY</a:t>
            </a:r>
          </a:p>
        </p:txBody>
      </p:sp>
      <p:sp>
        <p:nvSpPr>
          <p:cNvPr id="18" name="problem-before-call">
            <a:extLst xmlns:a="http://schemas.openxmlformats.org/drawingml/2006/main">
              <a:ext uri="{FF2B5EF4-FFF2-40B4-BE49-F238E27FC236}">
                <a16:creationId xmlns:a16="http://schemas.microsoft.com/office/drawing/2014/main" id="{C2CF2C6D-4829-44D4-90EF-9C9FA9FC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432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F39D84"/>
            </a:solidFill>
            <a:prstDash val="solid"/>
          </a:ln>
        </p:spPr>
      </p:sp>
      <p:sp>
        <p:nvSpPr>
          <p:cNvPr id="19" name="problem-before-call-text">
            <a:extLst xmlns:a="http://schemas.openxmlformats.org/drawingml/2006/main">
              <a:ext uri="{FF2B5EF4-FFF2-40B4-BE49-F238E27FC236}">
                <a16:creationId xmlns:a16="http://schemas.microsoft.com/office/drawing/2014/main" id="{84969D28-D937-442B-8ED0-367041E8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337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CALL</a:t>
            </a:r>
          </a:p>
        </p:txBody>
      </p:sp>
      <p:sp>
        <p:nvSpPr>
          <p:cNvPr id="20" name="problem-voicemail">
            <a:extLst xmlns:a="http://schemas.openxmlformats.org/drawingml/2006/main">
              <a:ext uri="{FF2B5EF4-FFF2-40B4-BE49-F238E27FC236}">
                <a16:creationId xmlns:a16="http://schemas.microsoft.com/office/drawing/2014/main" id="{C066255F-F1FB-4777-B8BD-5D0623F8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524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9525">
            <a:solidFill>
              <a:srgbClr val="F2C37B"/>
            </a:solidFill>
            <a:prstDash val="solid"/>
          </a:ln>
        </p:spPr>
      </p:sp>
      <p:sp>
        <p:nvSpPr>
          <p:cNvPr id="21" name="problem-voicemail-text">
            <a:extLst xmlns:a="http://schemas.openxmlformats.org/drawingml/2006/main">
              <a:ext uri="{FF2B5EF4-FFF2-40B4-BE49-F238E27FC236}">
                <a16:creationId xmlns:a16="http://schemas.microsoft.com/office/drawing/2014/main" id="{914424EC-C29F-44D9-876F-0F5A1A68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432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Voicemail or repeat call</a:t>
            </a:r>
          </a:p>
        </p:txBody>
      </p:sp>
      <p:sp>
        <p:nvSpPr>
          <p:cNvPr id="22" name="problem-before-line">
            <a:extLst xmlns:a="http://schemas.openxmlformats.org/drawingml/2006/main">
              <a:ext uri="{FF2B5EF4-FFF2-40B4-BE49-F238E27FC236}">
                <a16:creationId xmlns:a16="http://schemas.microsoft.com/office/drawing/2014/main" id="{588C78C2-BD5C-4B05-9CBA-3B7BBF58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3847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9D84"/>
            </a:solidFill>
            <a:prstDash val="solid"/>
          </a:ln>
        </p:spPr>
      </p:sp>
      <p:sp>
        <p:nvSpPr>
          <p:cNvPr id="23" name="problem-before-arrow">
            <a:extLst xmlns:a="http://schemas.openxmlformats.org/drawingml/2006/main">
              <a:ext uri="{FF2B5EF4-FFF2-40B4-BE49-F238E27FC236}">
                <a16:creationId xmlns:a16="http://schemas.microsoft.com/office/drawing/2014/main" id="{84118F1D-B2F2-4102-9AC4-4903CE04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718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9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oblem-after-label">
            <a:extLst xmlns:a="http://schemas.openxmlformats.org/drawingml/2006/main">
              <a:ext uri="{FF2B5EF4-FFF2-40B4-BE49-F238E27FC236}">
                <a16:creationId xmlns:a16="http://schemas.microsoft.com/office/drawing/2014/main" id="{DB20A5BA-9B54-4E4E-A7E2-C4E7EC2F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WITH VOICEAI</a:t>
            </a:r>
          </a:p>
        </p:txBody>
      </p:sp>
      <p:sp>
        <p:nvSpPr>
          <p:cNvPr id="25" name="problem-after-call">
            <a:extLst xmlns:a="http://schemas.openxmlformats.org/drawingml/2006/main">
              <a:ext uri="{FF2B5EF4-FFF2-40B4-BE49-F238E27FC236}">
                <a16:creationId xmlns:a16="http://schemas.microsoft.com/office/drawing/2014/main" id="{84D45855-DDC7-4B36-9B10-81D0E141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E766E"/>
            </a:solidFill>
            <a:prstDash val="solid"/>
          </a:ln>
        </p:spPr>
      </p:sp>
      <p:sp>
        <p:nvSpPr>
          <p:cNvPr id="26" name="problem-after-call-text">
            <a:extLst xmlns:a="http://schemas.openxmlformats.org/drawingml/2006/main">
              <a:ext uri="{FF2B5EF4-FFF2-40B4-BE49-F238E27FC236}">
                <a16:creationId xmlns:a16="http://schemas.microsoft.com/office/drawing/2014/main" id="{9E375D17-74F3-4F6C-B124-0517F2A2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CALL</a:t>
            </a:r>
          </a:p>
        </p:txBody>
      </p:sp>
      <p:sp>
        <p:nvSpPr>
          <p:cNvPr id="27" name="problem-conversation">
            <a:extLst xmlns:a="http://schemas.openxmlformats.org/drawingml/2006/main">
              <a:ext uri="{FF2B5EF4-FFF2-40B4-BE49-F238E27FC236}">
                <a16:creationId xmlns:a16="http://schemas.microsoft.com/office/drawing/2014/main" id="{8FDC3358-FFD1-4F91-A57B-D7C5F5FD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43400"/>
            <a:ext cx="1257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E766E"/>
            </a:solidFill>
            <a:prstDash val="solid"/>
          </a:ln>
        </p:spPr>
      </p:sp>
      <p:sp>
        <p:nvSpPr>
          <p:cNvPr id="28" name="problem-conversation-text">
            <a:extLst xmlns:a="http://schemas.openxmlformats.org/drawingml/2006/main">
              <a:ext uri="{FF2B5EF4-FFF2-40B4-BE49-F238E27FC236}">
                <a16:creationId xmlns:a16="http://schemas.microsoft.com/office/drawing/2014/main" id="{D5A2682B-4436-4854-9449-AB4B64EE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Useful conversation</a:t>
            </a:r>
          </a:p>
        </p:txBody>
      </p:sp>
      <p:sp>
        <p:nvSpPr>
          <p:cNvPr id="29" name="problem-next-step">
            <a:extLst xmlns:a="http://schemas.openxmlformats.org/drawingml/2006/main">
              <a:ext uri="{FF2B5EF4-FFF2-40B4-BE49-F238E27FC236}">
                <a16:creationId xmlns:a16="http://schemas.microsoft.com/office/drawing/2014/main" id="{2B3C4AD2-34DD-499B-AF0D-CBB55AD7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43400"/>
            <a:ext cx="1695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B42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30" name="problem-next-step-text">
            <a:extLst xmlns:a="http://schemas.openxmlformats.org/drawingml/2006/main">
              <a:ext uri="{FF2B5EF4-FFF2-40B4-BE49-F238E27FC236}">
                <a16:creationId xmlns:a16="http://schemas.microsoft.com/office/drawing/2014/main" id="{973297B2-9509-4939-A610-09FB6D45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053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Clear next step</a:t>
            </a:r>
          </a:p>
        </p:txBody>
      </p:sp>
      <p:sp>
        <p:nvSpPr>
          <p:cNvPr id="31" name="problem-after-line-1">
            <a:extLst xmlns:a="http://schemas.openxmlformats.org/drawingml/2006/main">
              <a:ext uri="{FF2B5EF4-FFF2-40B4-BE49-F238E27FC236}">
                <a16:creationId xmlns:a16="http://schemas.microsoft.com/office/drawing/2014/main" id="{CEB1F83F-D8C8-47DF-947F-7F20E5B3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005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66E"/>
            </a:solidFill>
            <a:prstDash val="solid"/>
          </a:ln>
        </p:spPr>
      </p:sp>
      <p:sp>
        <p:nvSpPr>
          <p:cNvPr id="32" name="problem-after-arrow-1">
            <a:extLst xmlns:a="http://schemas.openxmlformats.org/drawingml/2006/main">
              <a:ext uri="{FF2B5EF4-FFF2-40B4-BE49-F238E27FC236}">
                <a16:creationId xmlns:a16="http://schemas.microsoft.com/office/drawing/2014/main" id="{576DA472-4F56-4CAA-B2C9-533AE66A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5339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roblem-after-line-2">
            <a:extLst xmlns:a="http://schemas.openxmlformats.org/drawingml/2006/main">
              <a:ext uri="{FF2B5EF4-FFF2-40B4-BE49-F238E27FC236}">
                <a16:creationId xmlns:a16="http://schemas.microsoft.com/office/drawing/2014/main" id="{9D687535-D8AB-4492-AB11-C3953E2B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005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66E"/>
            </a:solidFill>
            <a:prstDash val="solid"/>
          </a:ln>
        </p:spPr>
      </p:sp>
      <p:sp>
        <p:nvSpPr>
          <p:cNvPr id="34" name="problem-after-arrow-2">
            <a:extLst xmlns:a="http://schemas.openxmlformats.org/drawingml/2006/main">
              <a:ext uri="{FF2B5EF4-FFF2-40B4-BE49-F238E27FC236}">
                <a16:creationId xmlns:a16="http://schemas.microsoft.com/office/drawing/2014/main" id="{6A0C67CA-6381-49A0-B8E8-24C22938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339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roblem-takeaway">
            <a:extLst xmlns:a="http://schemas.openxmlformats.org/drawingml/2006/main">
              <a:ext uri="{FF2B5EF4-FFF2-40B4-BE49-F238E27FC236}">
                <a16:creationId xmlns:a16="http://schemas.microsoft.com/office/drawing/2014/main" id="{3CE728CC-7DFD-4C54-A8C8-8EF18BE7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VoiceAI keeps the first conversation useful, even when the team is busy.</a:t>
            </a:r>
          </a:p>
        </p:txBody>
      </p:sp>
      <p:sp>
        <p:nvSpPr>
          <p:cNvPr id="36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BA21D451-75CA-43EC-A54B-68AB5557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E2"/>
            </a:solidFill>
            <a:prstDash val="solid"/>
          </a:ln>
        </p:spPr>
      </p:sp>
      <p:sp>
        <p:nvSpPr>
          <p:cNvPr id="37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40B8FE61-2EB4-4B33-9EE1-92B88A65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38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B63A4AB9-5D8E-4510-9FB8-8E753DA0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29707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workflow-brand">
            <a:extLst xmlns:a="http://schemas.openxmlformats.org/drawingml/2006/main">
              <a:ext uri="{FF2B5EF4-FFF2-40B4-BE49-F238E27FC236}">
                <a16:creationId xmlns:a16="http://schemas.microsoft.com/office/drawing/2014/main" id="{C63C012C-B5BF-4BA1-8085-D4557491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334A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2" name="workflow-brand-text">
            <a:extLst xmlns:a="http://schemas.openxmlformats.org/drawingml/2006/main">
              <a:ext uri="{FF2B5EF4-FFF2-40B4-BE49-F238E27FC236}">
                <a16:creationId xmlns:a16="http://schemas.microsoft.com/office/drawing/2014/main" id="{490E9736-C916-4E1E-A31A-FB56210C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One conversation, several business actions">
            <a:extLst xmlns:a="http://schemas.openxmlformats.org/drawingml/2006/main">
              <a:ext uri="{FF2B5EF4-FFF2-40B4-BE49-F238E27FC236}">
                <a16:creationId xmlns:a16="http://schemas.microsoft.com/office/drawing/2014/main" id="{14E96228-2C2C-4118-A2B3-C3C91E67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THE PRODUCT WORKFLOW</a:t>
            </a:r>
          </a:p>
        </p:txBody>
      </p:sp>
      <p:sp>
        <p:nvSpPr>
          <p:cNvPr id="4" name="title-One conversation, several business actions">
            <a:extLst xmlns:a="http://schemas.openxmlformats.org/drawingml/2006/main">
              <a:ext uri="{FF2B5EF4-FFF2-40B4-BE49-F238E27FC236}">
                <a16:creationId xmlns:a16="http://schemas.microsoft.com/office/drawing/2014/main" id="{8D016961-F532-46BE-B133-1E3DCD5C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conversation, several business actions</a:t>
            </a:r>
          </a:p>
        </p:txBody>
      </p:sp>
      <p:sp>
        <p:nvSpPr>
          <p:cNvPr id="5" name="subtitle-One conversation, several business actions">
            <a:extLst xmlns:a="http://schemas.openxmlformats.org/drawingml/2006/main">
              <a:ext uri="{FF2B5EF4-FFF2-40B4-BE49-F238E27FC236}">
                <a16:creationId xmlns:a16="http://schemas.microsoft.com/office/drawing/2014/main" id="{974336DD-E0D3-4181-A4D4-E0F7F039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rPr>
              <a:t>VoiceAI routes the request to the right next step while keeping the caller’s context in one place.</a:t>
            </a:r>
          </a:p>
        </p:txBody>
      </p:sp>
      <p:sp>
        <p:nvSpPr>
          <p:cNvPr id="6" name="workflow-call">
            <a:extLst xmlns:a="http://schemas.openxmlformats.org/drawingml/2006/main">
              <a:ext uri="{FF2B5EF4-FFF2-40B4-BE49-F238E27FC236}">
                <a16:creationId xmlns:a16="http://schemas.microsoft.com/office/drawing/2014/main" id="{944F5D08-2868-4F11-8799-C3730B11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call-text">
            <a:extLst xmlns:a="http://schemas.openxmlformats.org/drawingml/2006/main">
              <a:ext uri="{FF2B5EF4-FFF2-40B4-BE49-F238E27FC236}">
                <a16:creationId xmlns:a16="http://schemas.microsoft.com/office/drawing/2014/main" id="{0063E103-CC26-4167-9D45-17C8A1FB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rPr>
              <a:t>INBOUND</a:t>
            </a:r>
          </a:p>
          <a:p xmlns:a="http://schemas.openxmlformats.org/drawingml/2006/main">
            <a:pPr algn="ctr">
              <a:defRPr sz="1050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rPr>
              <a:t>CALL</a:t>
            </a:r>
          </a:p>
        </p:txBody>
      </p:sp>
      <p:sp>
        <p:nvSpPr>
          <p:cNvPr id="8" name="workflow-router">
            <a:extLst xmlns:a="http://schemas.openxmlformats.org/drawingml/2006/main">
              <a:ext uri="{FF2B5EF4-FFF2-40B4-BE49-F238E27FC236}">
                <a16:creationId xmlns:a16="http://schemas.microsoft.com/office/drawing/2014/main" id="{04D045C0-679B-4A6E-8CB8-5D85C311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3B56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9" name="workflow-router-title">
            <a:extLst xmlns:a="http://schemas.openxmlformats.org/drawingml/2006/main">
              <a:ext uri="{FF2B5EF4-FFF2-40B4-BE49-F238E27FC236}">
                <a16:creationId xmlns:a16="http://schemas.microsoft.com/office/drawing/2014/main" id="{6BF114D6-DFDC-47A3-B6DA-AD7786CB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670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INTENT ROUTING</a:t>
            </a:r>
          </a:p>
        </p:txBody>
      </p:sp>
      <p:sp>
        <p:nvSpPr>
          <p:cNvPr id="10" name="workflow-router-body">
            <a:extLst xmlns:a="http://schemas.openxmlformats.org/drawingml/2006/main">
              <a:ext uri="{FF2B5EF4-FFF2-40B4-BE49-F238E27FC236}">
                <a16:creationId xmlns:a16="http://schemas.microsoft.com/office/drawing/2014/main" id="{38957778-C4F5-4897-A8E2-9F4438DE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909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Caller history + request context</a:t>
            </a:r>
          </a:p>
        </p:txBody>
      </p:sp>
      <p:sp>
        <p:nvSpPr>
          <p:cNvPr id="11" name="workflow-call-line">
            <a:extLst xmlns:a="http://schemas.openxmlformats.org/drawingml/2006/main">
              <a:ext uri="{FF2B5EF4-FFF2-40B4-BE49-F238E27FC236}">
                <a16:creationId xmlns:a16="http://schemas.microsoft.com/office/drawing/2014/main" id="{FC6723B6-BB23-456B-AFBA-DB9AAC07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909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E1D2"/>
            </a:solidFill>
            <a:prstDash val="solid"/>
          </a:ln>
        </p:spPr>
      </p:sp>
      <p:sp>
        <p:nvSpPr>
          <p:cNvPr id="12" name="workflow-destination-0">
            <a:extLst xmlns:a="http://schemas.openxmlformats.org/drawingml/2006/main">
              <a:ext uri="{FF2B5EF4-FFF2-40B4-BE49-F238E27FC236}">
                <a16:creationId xmlns:a16="http://schemas.microsoft.com/office/drawing/2014/main" id="{C8D9A87B-465A-4C65-836F-0A81849B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13" name="workflow-dot-0">
            <a:extLst xmlns:a="http://schemas.openxmlformats.org/drawingml/2006/main">
              <a:ext uri="{FF2B5EF4-FFF2-40B4-BE49-F238E27FC236}">
                <a16:creationId xmlns:a16="http://schemas.microsoft.com/office/drawing/2014/main" id="{7CDA63EB-29EC-46BE-83EA-846E3478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05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orkflow-destination-label-0">
            <a:extLst xmlns:a="http://schemas.openxmlformats.org/drawingml/2006/main">
              <a:ext uri="{FF2B5EF4-FFF2-40B4-BE49-F238E27FC236}">
                <a16:creationId xmlns:a16="http://schemas.microsoft.com/office/drawing/2014/main" id="{87A83C5B-E18D-4AB0-A546-8D5DF424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955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SERVICE INTAKE</a:t>
            </a:r>
          </a:p>
        </p:txBody>
      </p:sp>
      <p:sp>
        <p:nvSpPr>
          <p:cNvPr id="15" name="workflow-destination-body-0">
            <a:extLst xmlns:a="http://schemas.openxmlformats.org/drawingml/2006/main">
              <a:ext uri="{FF2B5EF4-FFF2-40B4-BE49-F238E27FC236}">
                <a16:creationId xmlns:a16="http://schemas.microsoft.com/office/drawing/2014/main" id="{EE9F1183-003D-4866-9F24-1A68835E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289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Capture the right details</a:t>
            </a:r>
          </a:p>
        </p:txBody>
      </p:sp>
      <p:sp>
        <p:nvSpPr>
          <p:cNvPr id="16" name="workflow-route-horizontal-0">
            <a:extLst xmlns:a="http://schemas.openxmlformats.org/drawingml/2006/main">
              <a:ext uri="{FF2B5EF4-FFF2-40B4-BE49-F238E27FC236}">
                <a16:creationId xmlns:a16="http://schemas.microsoft.com/office/drawing/2014/main" id="{AD9D2B4A-14C6-4066-9A11-99104095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909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17" name="workflow-route-vertical-0">
            <a:extLst xmlns:a="http://schemas.openxmlformats.org/drawingml/2006/main">
              <a:ext uri="{FF2B5EF4-FFF2-40B4-BE49-F238E27FC236}">
                <a16:creationId xmlns:a16="http://schemas.microsoft.com/office/drawing/2014/main" id="{6FD327A2-510B-4008-A3AA-F5221A50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18" name="workflow-route-destination-0">
            <a:extLst xmlns:a="http://schemas.openxmlformats.org/drawingml/2006/main">
              <a:ext uri="{FF2B5EF4-FFF2-40B4-BE49-F238E27FC236}">
                <a16:creationId xmlns:a16="http://schemas.microsoft.com/office/drawing/2014/main" id="{26D11DEF-BF3B-422F-90F2-EA5FE748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19" name="workflow-destination-1">
            <a:extLst xmlns:a="http://schemas.openxmlformats.org/drawingml/2006/main">
              <a:ext uri="{FF2B5EF4-FFF2-40B4-BE49-F238E27FC236}">
                <a16:creationId xmlns:a16="http://schemas.microsoft.com/office/drawing/2014/main" id="{C56DC534-EAE2-4D33-B5FD-E7AC682E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3B56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20" name="workflow-dot-1">
            <a:extLst xmlns:a="http://schemas.openxmlformats.org/drawingml/2006/main">
              <a:ext uri="{FF2B5EF4-FFF2-40B4-BE49-F238E27FC236}">
                <a16:creationId xmlns:a16="http://schemas.microsoft.com/office/drawing/2014/main" id="{4EDDB852-AE80-46B4-AA9A-073AB457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05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orkflow-destination-label-1">
            <a:extLst xmlns:a="http://schemas.openxmlformats.org/drawingml/2006/main">
              <a:ext uri="{FF2B5EF4-FFF2-40B4-BE49-F238E27FC236}">
                <a16:creationId xmlns:a16="http://schemas.microsoft.com/office/drawing/2014/main" id="{DEA6CE51-E4B1-494B-946C-042BC479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955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APPOINTMENT BOOKING</a:t>
            </a:r>
          </a:p>
        </p:txBody>
      </p:sp>
      <p:sp>
        <p:nvSpPr>
          <p:cNvPr id="22" name="workflow-destination-body-1">
            <a:extLst xmlns:a="http://schemas.openxmlformats.org/drawingml/2006/main">
              <a:ext uri="{FF2B5EF4-FFF2-40B4-BE49-F238E27FC236}">
                <a16:creationId xmlns:a16="http://schemas.microsoft.com/office/drawing/2014/main" id="{5433E4D3-47B9-4224-A4A1-A2BBD7D6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289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Check and reserve a slot</a:t>
            </a:r>
          </a:p>
        </p:txBody>
      </p:sp>
      <p:sp>
        <p:nvSpPr>
          <p:cNvPr id="23" name="workflow-route-horizontal-1">
            <a:extLst xmlns:a="http://schemas.openxmlformats.org/drawingml/2006/main">
              <a:ext uri="{FF2B5EF4-FFF2-40B4-BE49-F238E27FC236}">
                <a16:creationId xmlns:a16="http://schemas.microsoft.com/office/drawing/2014/main" id="{EF8EAF79-512B-4BD8-922F-9E2B4798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909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E1D2"/>
            </a:solidFill>
            <a:prstDash val="solid"/>
          </a:ln>
        </p:spPr>
      </p:sp>
      <p:sp>
        <p:nvSpPr>
          <p:cNvPr id="24" name="workflow-route-vertical-1">
            <a:extLst xmlns:a="http://schemas.openxmlformats.org/drawingml/2006/main">
              <a:ext uri="{FF2B5EF4-FFF2-40B4-BE49-F238E27FC236}">
                <a16:creationId xmlns:a16="http://schemas.microsoft.com/office/drawing/2014/main" id="{644AA530-0F4E-4190-99F2-5FF9ADC6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E1D2"/>
            </a:solidFill>
            <a:prstDash val="solid"/>
          </a:ln>
        </p:spPr>
      </p:sp>
      <p:sp>
        <p:nvSpPr>
          <p:cNvPr id="25" name="workflow-route-destination-1">
            <a:extLst xmlns:a="http://schemas.openxmlformats.org/drawingml/2006/main">
              <a:ext uri="{FF2B5EF4-FFF2-40B4-BE49-F238E27FC236}">
                <a16:creationId xmlns:a16="http://schemas.microsoft.com/office/drawing/2014/main" id="{F796BF96-ECF0-4BDA-9B51-7FE4C20E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E1D2"/>
            </a:solidFill>
            <a:prstDash val="solid"/>
          </a:ln>
        </p:spPr>
      </p:sp>
      <p:sp>
        <p:nvSpPr>
          <p:cNvPr id="26" name="workflow-destination-2">
            <a:extLst xmlns:a="http://schemas.openxmlformats.org/drawingml/2006/main">
              <a:ext uri="{FF2B5EF4-FFF2-40B4-BE49-F238E27FC236}">
                <a16:creationId xmlns:a16="http://schemas.microsoft.com/office/drawing/2014/main" id="{B489E8A9-458F-4242-B827-8CA1E1AC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148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27" name="workflow-dot-2">
            <a:extLst xmlns:a="http://schemas.openxmlformats.org/drawingml/2006/main">
              <a:ext uri="{FF2B5EF4-FFF2-40B4-BE49-F238E27FC236}">
                <a16:creationId xmlns:a16="http://schemas.microsoft.com/office/drawing/2014/main" id="{EE4BF5A9-4FF1-4B88-96D0-22533798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orkflow-destination-label-2">
            <a:extLst xmlns:a="http://schemas.openxmlformats.org/drawingml/2006/main">
              <a:ext uri="{FF2B5EF4-FFF2-40B4-BE49-F238E27FC236}">
                <a16:creationId xmlns:a16="http://schemas.microsoft.com/office/drawing/2014/main" id="{2D53880B-9908-446B-B3F4-91E7EAEC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2767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FAQ ANSWER</a:t>
            </a:r>
          </a:p>
        </p:txBody>
      </p:sp>
      <p:sp>
        <p:nvSpPr>
          <p:cNvPr id="29" name="workflow-destination-body-2">
            <a:extLst xmlns:a="http://schemas.openxmlformats.org/drawingml/2006/main">
              <a:ext uri="{FF2B5EF4-FFF2-40B4-BE49-F238E27FC236}">
                <a16:creationId xmlns:a16="http://schemas.microsoft.com/office/drawing/2014/main" id="{774C2737-BA39-4F5A-BA35-6A08AA38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101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Use the business knowledge base</a:t>
            </a:r>
          </a:p>
        </p:txBody>
      </p:sp>
      <p:sp>
        <p:nvSpPr>
          <p:cNvPr id="30" name="workflow-route-horizontal-2">
            <a:extLst xmlns:a="http://schemas.openxmlformats.org/drawingml/2006/main">
              <a:ext uri="{FF2B5EF4-FFF2-40B4-BE49-F238E27FC236}">
                <a16:creationId xmlns:a16="http://schemas.microsoft.com/office/drawing/2014/main" id="{C78EFB6B-D856-4D54-AA16-09B459F8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909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31" name="workflow-route-vertical-2">
            <a:extLst xmlns:a="http://schemas.openxmlformats.org/drawingml/2006/main">
              <a:ext uri="{FF2B5EF4-FFF2-40B4-BE49-F238E27FC236}">
                <a16:creationId xmlns:a16="http://schemas.microsoft.com/office/drawing/2014/main" id="{DB1F25CB-53D8-4DE4-A111-3CED2282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32" name="workflow-route-destination-2">
            <a:extLst xmlns:a="http://schemas.openxmlformats.org/drawingml/2006/main">
              <a:ext uri="{FF2B5EF4-FFF2-40B4-BE49-F238E27FC236}">
                <a16:creationId xmlns:a16="http://schemas.microsoft.com/office/drawing/2014/main" id="{ED9C88EE-CFB3-42D3-A258-A5FE707F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33" name="workflow-destination-3">
            <a:extLst xmlns:a="http://schemas.openxmlformats.org/drawingml/2006/main">
              <a:ext uri="{FF2B5EF4-FFF2-40B4-BE49-F238E27FC236}">
                <a16:creationId xmlns:a16="http://schemas.microsoft.com/office/drawing/2014/main" id="{918B2668-9732-4B18-AF65-1F069D45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148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34" name="workflow-dot-3">
            <a:extLst xmlns:a="http://schemas.openxmlformats.org/drawingml/2006/main">
              <a:ext uri="{FF2B5EF4-FFF2-40B4-BE49-F238E27FC236}">
                <a16:creationId xmlns:a16="http://schemas.microsoft.com/office/drawing/2014/main" id="{067EF6A2-3D1D-4FA3-8108-328AD0E7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orkflow-destination-label-3">
            <a:extLst xmlns:a="http://schemas.openxmlformats.org/drawingml/2006/main">
              <a:ext uri="{FF2B5EF4-FFF2-40B4-BE49-F238E27FC236}">
                <a16:creationId xmlns:a16="http://schemas.microsoft.com/office/drawing/2014/main" id="{8EA843FD-2B97-4E22-8117-28F02890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767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CALLBACK OR HANDOFF</a:t>
            </a:r>
          </a:p>
        </p:txBody>
      </p:sp>
      <p:sp>
        <p:nvSpPr>
          <p:cNvPr id="36" name="workflow-destination-body-3">
            <a:extLst xmlns:a="http://schemas.openxmlformats.org/drawingml/2006/main">
              <a:ext uri="{FF2B5EF4-FFF2-40B4-BE49-F238E27FC236}">
                <a16:creationId xmlns:a16="http://schemas.microsoft.com/office/drawing/2014/main" id="{484A34E2-D98C-4F56-A1CA-775A2532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Keep the next action clear</a:t>
            </a:r>
          </a:p>
        </p:txBody>
      </p:sp>
      <p:sp>
        <p:nvSpPr>
          <p:cNvPr id="37" name="workflow-route-horizontal-3">
            <a:extLst xmlns:a="http://schemas.openxmlformats.org/drawingml/2006/main">
              <a:ext uri="{FF2B5EF4-FFF2-40B4-BE49-F238E27FC236}">
                <a16:creationId xmlns:a16="http://schemas.microsoft.com/office/drawing/2014/main" id="{B13FA5B8-A707-4547-B2EA-8BEC8064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909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38" name="workflow-route-vertical-3">
            <a:extLst xmlns:a="http://schemas.openxmlformats.org/drawingml/2006/main">
              <a:ext uri="{FF2B5EF4-FFF2-40B4-BE49-F238E27FC236}">
                <a16:creationId xmlns:a16="http://schemas.microsoft.com/office/drawing/2014/main" id="{E109BCB4-DE47-40A9-9AC1-6D267A1B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9090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39" name="workflow-route-destination-3">
            <a:extLst xmlns:a="http://schemas.openxmlformats.org/drawingml/2006/main">
              <a:ext uri="{FF2B5EF4-FFF2-40B4-BE49-F238E27FC236}">
                <a16:creationId xmlns:a16="http://schemas.microsoft.com/office/drawing/2014/main" id="{E97B4213-88DD-4093-9596-826E07B7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482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40" name="workflow-bottom-note">
            <a:extLst xmlns:a="http://schemas.openxmlformats.org/drawingml/2006/main">
              <a:ext uri="{FF2B5EF4-FFF2-40B4-BE49-F238E27FC236}">
                <a16:creationId xmlns:a16="http://schemas.microsoft.com/office/drawing/2014/main" id="{161129AE-4CC6-4186-9C6C-671CB2C7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5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B5C9D2"/>
                </a:solidFill>
                <a:latin typeface="Helvetica Neue"/>
                <a:ea typeface="Helvetica Neue"/>
                <a:cs typeface="Helvetica Neue"/>
              </a:rPr>
              <a:t>Structured records and summaries give staff a clear handoff when the call continues beyond automation.</a:t>
            </a:r>
          </a:p>
        </p:txBody>
      </p:sp>
      <p:sp>
        <p:nvSpPr>
          <p:cNvPr id="41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DDF65226-9C13-40A8-B446-0A0C2AE0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A5C"/>
            </a:solidFill>
            <a:prstDash val="solid"/>
          </a:ln>
        </p:spPr>
      </p:sp>
      <p:sp>
        <p:nvSpPr>
          <p:cNvPr id="42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27F01EE7-90A2-46EB-9EF5-C6CD9E53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4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C048C13D-406B-437F-ACEC-3CA33FF4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6204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operations-brand">
            <a:extLst xmlns:a="http://schemas.openxmlformats.org/drawingml/2006/main">
              <a:ext uri="{FF2B5EF4-FFF2-40B4-BE49-F238E27FC236}">
                <a16:creationId xmlns:a16="http://schemas.microsoft.com/office/drawing/2014/main" id="{E1614BC2-50BB-437F-94B4-74C24999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9525">
            <a:solidFill>
              <a:srgbClr val="A8C9C6"/>
            </a:solidFill>
            <a:prstDash val="solid"/>
          </a:ln>
        </p:spPr>
      </p:sp>
      <p:sp>
        <p:nvSpPr>
          <p:cNvPr id="2" name="operations-brand-text">
            <a:extLst xmlns:a="http://schemas.openxmlformats.org/drawingml/2006/main">
              <a:ext uri="{FF2B5EF4-FFF2-40B4-BE49-F238E27FC236}">
                <a16:creationId xmlns:a16="http://schemas.microsoft.com/office/drawing/2014/main" id="{EE4B4AC5-D132-44D0-8318-D0F9E77A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The call connects to the operation">
            <a:extLst xmlns:a="http://schemas.openxmlformats.org/drawingml/2006/main">
              <a:ext uri="{FF2B5EF4-FFF2-40B4-BE49-F238E27FC236}">
                <a16:creationId xmlns:a16="http://schemas.microsoft.com/office/drawing/2014/main" id="{88D2376A-6DFE-4A1A-872A-E797829F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CONNECTED OPERATIONS</a:t>
            </a:r>
          </a:p>
        </p:txBody>
      </p:sp>
      <p:sp>
        <p:nvSpPr>
          <p:cNvPr id="4" name="title-The call connects to the operation">
            <a:extLst xmlns:a="http://schemas.openxmlformats.org/drawingml/2006/main">
              <a:ext uri="{FF2B5EF4-FFF2-40B4-BE49-F238E27FC236}">
                <a16:creationId xmlns:a16="http://schemas.microsoft.com/office/drawing/2014/main" id="{E06C51B4-B3AC-4FB7-8E87-6BAFF1F6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The call connects to the operation</a:t>
            </a:r>
          </a:p>
        </p:txBody>
      </p:sp>
      <p:sp>
        <p:nvSpPr>
          <p:cNvPr id="5" name="subtitle-The call connects to the operation">
            <a:extLst xmlns:a="http://schemas.openxmlformats.org/drawingml/2006/main">
              <a:ext uri="{FF2B5EF4-FFF2-40B4-BE49-F238E27FC236}">
                <a16:creationId xmlns:a16="http://schemas.microsoft.com/office/drawing/2014/main" id="{B4BAFCA5-0B9B-4092-9C6B-955B9BD9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VoiceAI turns a conversation into updates the team can act on.</a:t>
            </a:r>
          </a:p>
        </p:txBody>
      </p:sp>
      <p:sp>
        <p:nvSpPr>
          <p:cNvPr id="6" name="operations-center">
            <a:extLst xmlns:a="http://schemas.openxmlformats.org/drawingml/2006/main">
              <a:ext uri="{FF2B5EF4-FFF2-40B4-BE49-F238E27FC236}">
                <a16:creationId xmlns:a16="http://schemas.microsoft.com/office/drawing/2014/main" id="{CD7BDDA2-BF8E-4D53-909C-92820267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289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2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7" name="operations-center-title">
            <a:extLst xmlns:a="http://schemas.openxmlformats.org/drawingml/2006/main">
              <a:ext uri="{FF2B5EF4-FFF2-40B4-BE49-F238E27FC236}">
                <a16:creationId xmlns:a16="http://schemas.microsoft.com/office/drawing/2014/main" id="{1EB8868D-E22A-459C-8E60-EF720936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6230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8" name="operations-center-body">
            <a:extLst xmlns:a="http://schemas.openxmlformats.org/drawingml/2006/main">
              <a:ext uri="{FF2B5EF4-FFF2-40B4-BE49-F238E27FC236}">
                <a16:creationId xmlns:a16="http://schemas.microsoft.com/office/drawing/2014/main" id="{D176CE34-51ED-4559-B695-564E8470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004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conversation</a:t>
            </a:r>
          </a:p>
          <a:p xmlns:a="http://schemas.openxmlformats.org/drawingml/2006/main">
            <a:pPr algn="ctr">
              <a:def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→ action</a:t>
            </a:r>
          </a:p>
        </p:txBody>
      </p:sp>
      <p:sp>
        <p:nvSpPr>
          <p:cNvPr id="9" name="operations-node-0">
            <a:extLst xmlns:a="http://schemas.openxmlformats.org/drawingml/2006/main">
              <a:ext uri="{FF2B5EF4-FFF2-40B4-BE49-F238E27FC236}">
                <a16:creationId xmlns:a16="http://schemas.microsoft.com/office/drawing/2014/main" id="{AA85209C-D170-4F60-BE9B-C808A16F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10" name="operations-dot-0">
            <a:extLst xmlns:a="http://schemas.openxmlformats.org/drawingml/2006/main">
              <a:ext uri="{FF2B5EF4-FFF2-40B4-BE49-F238E27FC236}">
                <a16:creationId xmlns:a16="http://schemas.microsoft.com/office/drawing/2014/main" id="{AA2B56FE-03B0-439E-A87F-045C1AA1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perations-label-0">
            <a:extLst xmlns:a="http://schemas.openxmlformats.org/drawingml/2006/main">
              <a:ext uri="{FF2B5EF4-FFF2-40B4-BE49-F238E27FC236}">
                <a16:creationId xmlns:a16="http://schemas.microsoft.com/office/drawing/2014/main" id="{522D425D-9BEB-4C3C-A1C4-73635260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CUSTOMER RECORDS</a:t>
            </a:r>
          </a:p>
        </p:txBody>
      </p:sp>
      <p:sp>
        <p:nvSpPr>
          <p:cNvPr id="12" name="operations-body-0">
            <a:extLst xmlns:a="http://schemas.openxmlformats.org/drawingml/2006/main">
              <a:ext uri="{FF2B5EF4-FFF2-40B4-BE49-F238E27FC236}">
                <a16:creationId xmlns:a16="http://schemas.microsoft.com/office/drawing/2014/main" id="{C6102F7B-AE61-4032-98C8-C9CE1649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History, vehicle details, active requests</a:t>
            </a:r>
          </a:p>
        </p:txBody>
      </p:sp>
      <p:cxnSp>
        <p:nvCxnSpPr>
          <p:cNvPr id="50" name=""/>
          <p:cNvCxnSpPr>
            <a:stCxn xmlns:a="http://schemas.openxmlformats.org/drawingml/2006/main" id="6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3619500" y="2819400"/>
            <a:ext cx="158115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14" name="operations-node-1">
            <a:extLst xmlns:a="http://schemas.openxmlformats.org/drawingml/2006/main">
              <a:ext uri="{FF2B5EF4-FFF2-40B4-BE49-F238E27FC236}">
                <a16:creationId xmlns:a16="http://schemas.microsoft.com/office/drawing/2014/main" id="{E3E709C8-5887-47BD-AD66-36B08C8A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15" name="operations-dot-1">
            <a:extLst xmlns:a="http://schemas.openxmlformats.org/drawingml/2006/main">
              <a:ext uri="{FF2B5EF4-FFF2-40B4-BE49-F238E27FC236}">
                <a16:creationId xmlns:a16="http://schemas.microsoft.com/office/drawing/2014/main" id="{EBD80B60-8F7B-4042-9A52-37932E77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perations-label-1">
            <a:extLst xmlns:a="http://schemas.openxmlformats.org/drawingml/2006/main">
              <a:ext uri="{FF2B5EF4-FFF2-40B4-BE49-F238E27FC236}">
                <a16:creationId xmlns:a16="http://schemas.microsoft.com/office/drawing/2014/main" id="{8F94DCF1-41EC-4142-9D9A-47E63309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527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GOOGLE CALENDAR</a:t>
            </a:r>
          </a:p>
        </p:txBody>
      </p:sp>
      <p:sp>
        <p:nvSpPr>
          <p:cNvPr id="17" name="operations-body-1">
            <a:extLst xmlns:a="http://schemas.openxmlformats.org/drawingml/2006/main">
              <a:ext uri="{FF2B5EF4-FFF2-40B4-BE49-F238E27FC236}">
                <a16:creationId xmlns:a16="http://schemas.microsoft.com/office/drawing/2014/main" id="{CC52D3CD-8839-4CE5-86A2-DA8CFEDF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384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Availability and booked slots</a:t>
            </a:r>
          </a:p>
        </p:txBody>
      </p:sp>
      <p:cxnSp>
        <p:nvCxnSpPr>
          <p:cNvPr id="55" name=""/>
          <p:cNvCxnSpPr>
            <a:stCxn xmlns:a="http://schemas.openxmlformats.org/drawingml/2006/main" id="6" idx="6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953250" y="2819400"/>
            <a:ext cx="156210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19" name="operations-node-2">
            <a:extLst xmlns:a="http://schemas.openxmlformats.org/drawingml/2006/main">
              <a:ext uri="{FF2B5EF4-FFF2-40B4-BE49-F238E27FC236}">
                <a16:creationId xmlns:a16="http://schemas.microsoft.com/office/drawing/2014/main" id="{64A96E64-4EF2-4CC3-BBC3-47AA91DB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20" name="operations-dot-2">
            <a:extLst xmlns:a="http://schemas.openxmlformats.org/drawingml/2006/main">
              <a:ext uri="{FF2B5EF4-FFF2-40B4-BE49-F238E27FC236}">
                <a16:creationId xmlns:a16="http://schemas.microsoft.com/office/drawing/2014/main" id="{AB73A6EF-1318-4CEA-9E9E-44C821EF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perations-label-2">
            <a:extLst xmlns:a="http://schemas.openxmlformats.org/drawingml/2006/main">
              <a:ext uri="{FF2B5EF4-FFF2-40B4-BE49-F238E27FC236}">
                <a16:creationId xmlns:a16="http://schemas.microsoft.com/office/drawing/2014/main" id="{40323DBA-2C28-4AEA-9F3E-65C99850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KNOWLEDGE BASE</a:t>
            </a:r>
          </a:p>
        </p:txBody>
      </p:sp>
      <p:sp>
        <p:nvSpPr>
          <p:cNvPr id="22" name="operations-body-2">
            <a:extLst xmlns:a="http://schemas.openxmlformats.org/drawingml/2006/main">
              <a:ext uri="{FF2B5EF4-FFF2-40B4-BE49-F238E27FC236}">
                <a16:creationId xmlns:a16="http://schemas.microsoft.com/office/drawing/2014/main" id="{4189155B-2F72-4194-AE87-E2D297DE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Business answers grounded in source material</a:t>
            </a:r>
          </a:p>
        </p:txBody>
      </p:sp>
      <p:cxnSp>
        <p:nvCxnSpPr>
          <p:cNvPr id="60" name=""/>
          <p:cNvCxnSpPr>
            <a:stCxn xmlns:a="http://schemas.openxmlformats.org/drawingml/2006/main" id="6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3619500" y="3505200"/>
            <a:ext cx="1581150" cy="1447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24" name="operations-node-3">
            <a:extLst xmlns:a="http://schemas.openxmlformats.org/drawingml/2006/main">
              <a:ext uri="{FF2B5EF4-FFF2-40B4-BE49-F238E27FC236}">
                <a16:creationId xmlns:a16="http://schemas.microsoft.com/office/drawing/2014/main" id="{23E5BA4B-9F9B-48F5-98A5-5BDC37AF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25" name="operations-dot-3">
            <a:extLst xmlns:a="http://schemas.openxmlformats.org/drawingml/2006/main">
              <a:ext uri="{FF2B5EF4-FFF2-40B4-BE49-F238E27FC236}">
                <a16:creationId xmlns:a16="http://schemas.microsoft.com/office/drawing/2014/main" id="{74451337-4CC2-475F-9BC1-234B533A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05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perations-label-3">
            <a:extLst xmlns:a="http://schemas.openxmlformats.org/drawingml/2006/main">
              <a:ext uri="{FF2B5EF4-FFF2-40B4-BE49-F238E27FC236}">
                <a16:creationId xmlns:a16="http://schemas.microsoft.com/office/drawing/2014/main" id="{620D071D-EB78-4295-8193-D5FCA374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863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EMAIL + SMS</a:t>
            </a:r>
          </a:p>
        </p:txBody>
      </p:sp>
      <p:sp>
        <p:nvSpPr>
          <p:cNvPr id="27" name="operations-body-3">
            <a:extLst xmlns:a="http://schemas.openxmlformats.org/drawingml/2006/main">
              <a:ext uri="{FF2B5EF4-FFF2-40B4-BE49-F238E27FC236}">
                <a16:creationId xmlns:a16="http://schemas.microsoft.com/office/drawing/2014/main" id="{22B6768B-BD73-49CA-8584-2E1FAF30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72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Customer and staff notifications</a:t>
            </a:r>
          </a:p>
        </p:txBody>
      </p:sp>
      <p:cxnSp>
        <p:nvCxnSpPr>
          <p:cNvPr id="65" name=""/>
          <p:cNvCxnSpPr>
            <a:stCxn xmlns:a="http://schemas.openxmlformats.org/drawingml/2006/main" id="6" idx="6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6953250" y="3505200"/>
            <a:ext cx="1562100" cy="1447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29" name="operations-portal-band">
            <a:extLst xmlns:a="http://schemas.openxmlformats.org/drawingml/2006/main">
              <a:ext uri="{FF2B5EF4-FFF2-40B4-BE49-F238E27FC236}">
                <a16:creationId xmlns:a16="http://schemas.microsoft.com/office/drawing/2014/main" id="{D2805588-4B1D-4A50-9D68-484C20F9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53100"/>
            <a:ext cx="102489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2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perations-portal-title">
            <a:extLst xmlns:a="http://schemas.openxmlformats.org/drawingml/2006/main">
              <a:ext uri="{FF2B5EF4-FFF2-40B4-BE49-F238E27FC236}">
                <a16:creationId xmlns:a16="http://schemas.microsoft.com/office/drawing/2014/main" id="{7D6AD5AF-2505-4C19-8717-6922E1D8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67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STAFF PORTAL</a:t>
            </a:r>
          </a:p>
        </p:txBody>
      </p:sp>
      <p:sp>
        <p:nvSpPr>
          <p:cNvPr id="31" name="operations-portal-transcripts">
            <a:extLst xmlns:a="http://schemas.openxmlformats.org/drawingml/2006/main">
              <a:ext uri="{FF2B5EF4-FFF2-40B4-BE49-F238E27FC236}">
                <a16:creationId xmlns:a16="http://schemas.microsoft.com/office/drawing/2014/main" id="{552363B2-3E3C-488B-AB4D-77115918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8674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Transcripts</a:t>
            </a:r>
          </a:p>
        </p:txBody>
      </p:sp>
      <p:sp>
        <p:nvSpPr>
          <p:cNvPr id="32" name="operations-portal-catalog">
            <a:extLst xmlns:a="http://schemas.openxmlformats.org/drawingml/2006/main">
              <a:ext uri="{FF2B5EF4-FFF2-40B4-BE49-F238E27FC236}">
                <a16:creationId xmlns:a16="http://schemas.microsoft.com/office/drawing/2014/main" id="{9136B50C-BC6E-4041-B0BA-358B4CC4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674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Service catalog</a:t>
            </a:r>
          </a:p>
        </p:txBody>
      </p:sp>
      <p:sp>
        <p:nvSpPr>
          <p:cNvPr id="33" name="operations-portal-calendar">
            <a:extLst xmlns:a="http://schemas.openxmlformats.org/drawingml/2006/main">
              <a:ext uri="{FF2B5EF4-FFF2-40B4-BE49-F238E27FC236}">
                <a16:creationId xmlns:a16="http://schemas.microsoft.com/office/drawing/2014/main" id="{AA4E5F95-B010-46B3-8824-DCA42DC6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67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Calendar controls</a:t>
            </a:r>
          </a:p>
        </p:txBody>
      </p:sp>
      <p:sp>
        <p:nvSpPr>
          <p:cNvPr id="34" name="operations-portal-escalation">
            <a:extLst xmlns:a="http://schemas.openxmlformats.org/drawingml/2006/main">
              <a:ext uri="{FF2B5EF4-FFF2-40B4-BE49-F238E27FC236}">
                <a16:creationId xmlns:a16="http://schemas.microsoft.com/office/drawing/2014/main" id="{05337539-C5C3-46FD-A114-A957EB45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674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Escalation visibility</a:t>
            </a:r>
          </a:p>
        </p:txBody>
      </p:sp>
      <p:sp>
        <p:nvSpPr>
          <p:cNvPr id="3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7BADD646-D39A-4361-837E-7F6F88EE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E2"/>
            </a:solidFill>
            <a:prstDash val="solid"/>
          </a:ln>
        </p:spPr>
      </p:sp>
      <p:sp>
        <p:nvSpPr>
          <p:cNvPr id="36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CDCE8E67-CAB4-48DD-8A5E-DAEB4902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3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1A835F01-5C60-4334-B947-D41A551C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364549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close-brand">
            <a:extLst xmlns:a="http://schemas.openxmlformats.org/drawingml/2006/main">
              <a:ext uri="{FF2B5EF4-FFF2-40B4-BE49-F238E27FC236}">
                <a16:creationId xmlns:a16="http://schemas.microsoft.com/office/drawing/2014/main" id="{4BA0B429-9A76-45B2-AD74-3EC29B9E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334A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2" name="close-brand-text">
            <a:extLst xmlns:a="http://schemas.openxmlformats.org/drawingml/2006/main">
              <a:ext uri="{FF2B5EF4-FFF2-40B4-BE49-F238E27FC236}">
                <a16:creationId xmlns:a16="http://schemas.microsoft.com/office/drawing/2014/main" id="{FA797668-36CA-45A8-B999-85B34D08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Start with one high-volume call flow">
            <a:extLst xmlns:a="http://schemas.openxmlformats.org/drawingml/2006/main">
              <a:ext uri="{FF2B5EF4-FFF2-40B4-BE49-F238E27FC236}">
                <a16:creationId xmlns:a16="http://schemas.microsoft.com/office/drawing/2014/main" id="{E73E1A5E-09E3-4D95-8710-69E709F4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A PRACTICAL STARTING POINT</a:t>
            </a:r>
          </a:p>
        </p:txBody>
      </p:sp>
      <p:sp>
        <p:nvSpPr>
          <p:cNvPr id="4" name="title-Start with one high-volume call flow">
            <a:extLst xmlns:a="http://schemas.openxmlformats.org/drawingml/2006/main">
              <a:ext uri="{FF2B5EF4-FFF2-40B4-BE49-F238E27FC236}">
                <a16:creationId xmlns:a16="http://schemas.microsoft.com/office/drawing/2014/main" id="{DD27F730-325E-40C7-B6AA-A0E50FD3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Start with one high-volume call flow</a:t>
            </a:r>
          </a:p>
        </p:txBody>
      </p:sp>
      <p:sp>
        <p:nvSpPr>
          <p:cNvPr id="5" name="subtitle-Start with one high-volume call flow">
            <a:extLst xmlns:a="http://schemas.openxmlformats.org/drawingml/2006/main">
              <a:ext uri="{FF2B5EF4-FFF2-40B4-BE49-F238E27FC236}">
                <a16:creationId xmlns:a16="http://schemas.microsoft.com/office/drawing/2014/main" id="{5B98B03D-7B4E-42FD-860E-22C812E5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rPr>
              <a:t>A focused pilot lets the team map the conversation, the systems it touches, and the next operational step.</a:t>
            </a:r>
          </a:p>
        </p:txBody>
      </p:sp>
      <p:sp>
        <p:nvSpPr>
          <p:cNvPr id="6" name="close-example-kicker">
            <a:extLst xmlns:a="http://schemas.openxmlformats.org/drawingml/2006/main">
              <a:ext uri="{FF2B5EF4-FFF2-40B4-BE49-F238E27FC236}">
                <a16:creationId xmlns:a16="http://schemas.microsoft.com/office/drawing/2014/main" id="{654A9A73-88EF-4F78-9AE4-FCF1D644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AUTO-SERVICE EXAMPLE</a:t>
            </a:r>
          </a:p>
        </p:txBody>
      </p:sp>
      <p:sp>
        <p:nvSpPr>
          <p:cNvPr id="7" name="close-example-body">
            <a:extLst xmlns:a="http://schemas.openxmlformats.org/drawingml/2006/main">
              <a:ext uri="{FF2B5EF4-FFF2-40B4-BE49-F238E27FC236}">
                <a16:creationId xmlns:a16="http://schemas.microsoft.com/office/drawing/2014/main" id="{E49B546F-70BD-4012-B1EC-7DB91ECF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brake-repair call becomes a captured service request, a viable appointment slot, and a clear staff follow-up.</a:t>
            </a:r>
          </a:p>
        </p:txBody>
      </p:sp>
      <p:sp>
        <p:nvSpPr>
          <p:cNvPr id="8" name="close-rule">
            <a:extLst xmlns:a="http://schemas.openxmlformats.org/drawingml/2006/main">
              <a:ext uri="{FF2B5EF4-FFF2-40B4-BE49-F238E27FC236}">
                <a16:creationId xmlns:a16="http://schemas.microsoft.com/office/drawing/2014/main" id="{7F0177A3-8251-4FB0-BD9C-AFD6C356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A5C"/>
            </a:solidFill>
            <a:prstDash val="solid"/>
          </a:ln>
        </p:spPr>
      </p:sp>
      <p:sp>
        <p:nvSpPr>
          <p:cNvPr id="9" name="close-pilot-label">
            <a:extLst xmlns:a="http://schemas.openxmlformats.org/drawingml/2006/main">
              <a:ext uri="{FF2B5EF4-FFF2-40B4-BE49-F238E27FC236}">
                <a16:creationId xmlns:a16="http://schemas.microsoft.com/office/drawing/2014/main" id="{21C9CCB2-9726-4B48-8A84-45FDBDBC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Pilot scope</a:t>
            </a:r>
          </a:p>
        </p:txBody>
      </p:sp>
      <p:sp>
        <p:nvSpPr>
          <p:cNvPr id="10" name="close-pilot-list">
            <a:extLst xmlns:a="http://schemas.openxmlformats.org/drawingml/2006/main">
              <a:ext uri="{FF2B5EF4-FFF2-40B4-BE49-F238E27FC236}">
                <a16:creationId xmlns:a16="http://schemas.microsoft.com/office/drawing/2014/main" id="{9E2A65AF-5649-4DB8-A1B5-DE873E87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38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rPr>
              <a:t>Configure the service catalog</a:t>
            </a:r>
          </a:p>
          <a:p xmlns:a="http://schemas.openxmlformats.org/drawingml/2006/main">
            <a:pPr>
              <a:def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rPr>
              <a:t>Connect calendars and notifications</a:t>
            </a:r>
          </a:p>
          <a:p xmlns:a="http://schemas.openxmlformats.org/drawingml/2006/main">
            <a:pPr>
              <a:def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rPr>
              <a:t>Review transcripts and exceptions</a:t>
            </a:r>
          </a:p>
        </p:txBody>
      </p:sp>
      <p:sp>
        <p:nvSpPr>
          <p:cNvPr id="11" name="close-next-step">
            <a:extLst xmlns:a="http://schemas.openxmlformats.org/drawingml/2006/main">
              <a:ext uri="{FF2B5EF4-FFF2-40B4-BE49-F238E27FC236}">
                <a16:creationId xmlns:a16="http://schemas.microsoft.com/office/drawing/2014/main" id="{E300DB2F-2980-43E3-95B7-7F725346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Use the first pilot to map one workflow and the systems it touches.</a:t>
            </a:r>
          </a:p>
        </p:txBody>
      </p:sp>
      <p:sp>
        <p:nvSpPr>
          <p:cNvPr id="12" name="close-portal-frame">
            <a:extLst xmlns:a="http://schemas.openxmlformats.org/drawingml/2006/main">
              <a:ext uri="{FF2B5EF4-FFF2-40B4-BE49-F238E27FC236}">
                <a16:creationId xmlns:a16="http://schemas.microsoft.com/office/drawing/2014/main" id="{651916DC-E448-49FD-A1CA-0A6D2823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05050"/>
            <a:ext cx="41719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102C41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13" name="close-portal-title">
            <a:extLst xmlns:a="http://schemas.openxmlformats.org/drawingml/2006/main">
              <a:ext uri="{FF2B5EF4-FFF2-40B4-BE49-F238E27FC236}">
                <a16:creationId xmlns:a16="http://schemas.microsoft.com/office/drawing/2014/main" id="{9B9B287E-CCB8-4E44-8C5C-CA43444D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STAFF PORTAL</a:t>
            </a:r>
          </a:p>
        </p:txBody>
      </p:sp>
      <p:sp>
        <p:nvSpPr>
          <p:cNvPr id="14" name="close-portal-rule">
            <a:extLst xmlns:a="http://schemas.openxmlformats.org/drawingml/2006/main">
              <a:ext uri="{FF2B5EF4-FFF2-40B4-BE49-F238E27FC236}">
                <a16:creationId xmlns:a16="http://schemas.microsoft.com/office/drawing/2014/main" id="{A5A78658-8111-453E-98B4-A178BF1C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15" name="close-portal-dot-0">
            <a:extLst xmlns:a="http://schemas.openxmlformats.org/drawingml/2006/main">
              <a:ext uri="{FF2B5EF4-FFF2-40B4-BE49-F238E27FC236}">
                <a16:creationId xmlns:a16="http://schemas.microsoft.com/office/drawing/2014/main" id="{37840630-1D4E-4047-8D46-888D6D70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e-portal-row-label-0">
            <a:extLst xmlns:a="http://schemas.openxmlformats.org/drawingml/2006/main">
              <a:ext uri="{FF2B5EF4-FFF2-40B4-BE49-F238E27FC236}">
                <a16:creationId xmlns:a16="http://schemas.microsoft.com/office/drawing/2014/main" id="{18C0B372-A40B-42E5-8F9D-AC7EB590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81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Service catalog</a:t>
            </a:r>
          </a:p>
        </p:txBody>
      </p:sp>
      <p:sp>
        <p:nvSpPr>
          <p:cNvPr id="17" name="close-portal-row-body-0">
            <a:extLst xmlns:a="http://schemas.openxmlformats.org/drawingml/2006/main">
              <a:ext uri="{FF2B5EF4-FFF2-40B4-BE49-F238E27FC236}">
                <a16:creationId xmlns:a16="http://schemas.microsoft.com/office/drawing/2014/main" id="{AFD4D96B-8627-436B-9AF6-0FF622C3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Edit offers and intake fields</a:t>
            </a:r>
          </a:p>
        </p:txBody>
      </p:sp>
      <p:sp>
        <p:nvSpPr>
          <p:cNvPr id="18" name="close-portal-row-rule-0">
            <a:extLst xmlns:a="http://schemas.openxmlformats.org/drawingml/2006/main">
              <a:ext uri="{FF2B5EF4-FFF2-40B4-BE49-F238E27FC236}">
                <a16:creationId xmlns:a16="http://schemas.microsoft.com/office/drawing/2014/main" id="{5443205A-9B1F-4635-AC04-E6382268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19" name="close-portal-dot-1">
            <a:extLst xmlns:a="http://schemas.openxmlformats.org/drawingml/2006/main">
              <a:ext uri="{FF2B5EF4-FFF2-40B4-BE49-F238E27FC236}">
                <a16:creationId xmlns:a16="http://schemas.microsoft.com/office/drawing/2014/main" id="{AB77CE31-B153-4389-9BCC-E5929ACF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ose-portal-row-label-1">
            <a:extLst xmlns:a="http://schemas.openxmlformats.org/drawingml/2006/main">
              <a:ext uri="{FF2B5EF4-FFF2-40B4-BE49-F238E27FC236}">
                <a16:creationId xmlns:a16="http://schemas.microsoft.com/office/drawing/2014/main" id="{BEF71D6B-E5BA-44CD-AE7D-EA58FBAF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Calendar controls</a:t>
            </a:r>
          </a:p>
        </p:txBody>
      </p:sp>
      <p:sp>
        <p:nvSpPr>
          <p:cNvPr id="21" name="close-portal-row-body-1">
            <a:extLst xmlns:a="http://schemas.openxmlformats.org/drawingml/2006/main">
              <a:ext uri="{FF2B5EF4-FFF2-40B4-BE49-F238E27FC236}">
                <a16:creationId xmlns:a16="http://schemas.microsoft.com/office/drawing/2014/main" id="{A01750F0-88FA-4144-9668-EFCEAB89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76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Manage availability and bookings</a:t>
            </a:r>
          </a:p>
        </p:txBody>
      </p:sp>
      <p:sp>
        <p:nvSpPr>
          <p:cNvPr id="22" name="close-portal-row-rule-1">
            <a:extLst xmlns:a="http://schemas.openxmlformats.org/drawingml/2006/main">
              <a:ext uri="{FF2B5EF4-FFF2-40B4-BE49-F238E27FC236}">
                <a16:creationId xmlns:a16="http://schemas.microsoft.com/office/drawing/2014/main" id="{BC6F4DB9-9476-45E6-A90F-EFE3046E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95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23" name="close-portal-dot-2">
            <a:extLst xmlns:a="http://schemas.openxmlformats.org/drawingml/2006/main">
              <a:ext uri="{FF2B5EF4-FFF2-40B4-BE49-F238E27FC236}">
                <a16:creationId xmlns:a16="http://schemas.microsoft.com/office/drawing/2014/main" id="{95F6A385-13D3-48AD-9FFC-C985654E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F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lose-portal-row-label-2">
            <a:extLst xmlns:a="http://schemas.openxmlformats.org/drawingml/2006/main">
              <a:ext uri="{FF2B5EF4-FFF2-40B4-BE49-F238E27FC236}">
                <a16:creationId xmlns:a16="http://schemas.microsoft.com/office/drawing/2014/main" id="{65597E7B-C795-4E83-A447-B1134CFC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71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Transcript review</a:t>
            </a:r>
          </a:p>
        </p:txBody>
      </p:sp>
      <p:sp>
        <p:nvSpPr>
          <p:cNvPr id="25" name="close-portal-row-body-2">
            <a:extLst xmlns:a="http://schemas.openxmlformats.org/drawingml/2006/main">
              <a:ext uri="{FF2B5EF4-FFF2-40B4-BE49-F238E27FC236}">
                <a16:creationId xmlns:a16="http://schemas.microsoft.com/office/drawing/2014/main" id="{C28C4762-0017-419E-A2B0-BBF20082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71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See summaries and full call context</a:t>
            </a:r>
          </a:p>
        </p:txBody>
      </p:sp>
      <p:sp>
        <p:nvSpPr>
          <p:cNvPr id="26" name="close-portal-row-rule-2">
            <a:extLst xmlns:a="http://schemas.openxmlformats.org/drawingml/2006/main">
              <a:ext uri="{FF2B5EF4-FFF2-40B4-BE49-F238E27FC236}">
                <a16:creationId xmlns:a16="http://schemas.microsoft.com/office/drawing/2014/main" id="{E22E0A9F-D19B-4B80-81CE-A1A227C1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27" name="close-portal-dot-3">
            <a:extLst xmlns:a="http://schemas.openxmlformats.org/drawingml/2006/main">
              <a:ext uri="{FF2B5EF4-FFF2-40B4-BE49-F238E27FC236}">
                <a16:creationId xmlns:a16="http://schemas.microsoft.com/office/drawing/2014/main" id="{C572D5D8-E9BD-44F5-9C92-351C4B34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lose-portal-row-label-3">
            <a:extLst xmlns:a="http://schemas.openxmlformats.org/drawingml/2006/main">
              <a:ext uri="{FF2B5EF4-FFF2-40B4-BE49-F238E27FC236}">
                <a16:creationId xmlns:a16="http://schemas.microsoft.com/office/drawing/2014/main" id="{382245BD-E993-4605-8414-B699CEB9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67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Escalation queue</a:t>
            </a:r>
          </a:p>
        </p:txBody>
      </p:sp>
      <p:sp>
        <p:nvSpPr>
          <p:cNvPr id="29" name="close-portal-row-body-3">
            <a:extLst xmlns:a="http://schemas.openxmlformats.org/drawingml/2006/main">
              <a:ext uri="{FF2B5EF4-FFF2-40B4-BE49-F238E27FC236}">
                <a16:creationId xmlns:a16="http://schemas.microsoft.com/office/drawing/2014/main" id="{7CCBBC29-BF67-4AC1-8C4E-39BC8C98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672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Surface exceptions for staff</a:t>
            </a:r>
          </a:p>
        </p:txBody>
      </p:sp>
      <p:sp>
        <p:nvSpPr>
          <p:cNvPr id="30" name="close-contact-placeholder">
            <a:extLst xmlns:a="http://schemas.openxmlformats.org/drawingml/2006/main">
              <a:ext uri="{FF2B5EF4-FFF2-40B4-BE49-F238E27FC236}">
                <a16:creationId xmlns:a16="http://schemas.microsoft.com/office/drawing/2014/main" id="{D5937453-8494-4896-A64E-BD0D8EAA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531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CONTACT / DEMO</a:t>
            </a:r>
          </a:p>
        </p:txBody>
      </p:sp>
      <p:sp>
        <p:nvSpPr>
          <p:cNvPr id="31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7B626167-E92E-480E-81EF-7C564D4A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A5C"/>
            </a:solidFill>
            <a:prstDash val="solid"/>
          </a:ln>
        </p:spPr>
      </p:sp>
      <p:sp>
        <p:nvSpPr>
          <p:cNvPr id="32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D8760438-B01A-4170-B041-B598C9B9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3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A516026B-E995-45C5-A5A2-146C5AD9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0878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2026-10-05T20:56:34.4280000Z</dcterms:created>
  <dcterms:modified xsi:type="dcterms:W3CDTF">2026-10-05T20:56:34.4280000Z</dcterms:modified>
</coreProperties>
</file>