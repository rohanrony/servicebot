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30638103ab4aba" /><Relationship Type="http://schemas.openxmlformats.org/officeDocument/2006/relationships/extended-properties" Target="/docProps/app.xml" Id="R6078e8653d0943ae" /><Relationship Type="http://schemas.openxmlformats.org/officeDocument/2006/relationships/officeDocument" Target="/ppt/presentation.xml" Id="Re4ef09c40de0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67b07d5ac34a7d"/>
  </p:sldMasterIdLst>
  <p:notesMasterIdLst>
    <p:notesMasterId xmlns:r="http://schemas.openxmlformats.org/officeDocument/2006/relationships" r:id="R9388ac7e601b42ad"/>
  </p:notesMasterIdLst>
  <p:sldIdLst>
    <p:sldId xmlns:r="http://schemas.openxmlformats.org/officeDocument/2006/relationships" id="256" r:id="Ref0023fc691648c7"/>
    <p:sldId xmlns:r="http://schemas.openxmlformats.org/officeDocument/2006/relationships" id="257" r:id="R8671133cbec04693"/>
    <p:sldId xmlns:r="http://schemas.openxmlformats.org/officeDocument/2006/relationships" id="258" r:id="R436418b531a1466b"/>
    <p:sldId xmlns:r="http://schemas.openxmlformats.org/officeDocument/2006/relationships" id="259" r:id="Ra6f16bd73d8448bb"/>
    <p:sldId xmlns:r="http://schemas.openxmlformats.org/officeDocument/2006/relationships" id="260" r:id="Reeed526ef71845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3375b9d639421a" /><Relationship Type="http://schemas.openxmlformats.org/officeDocument/2006/relationships/slideMaster" Target="/ppt/slideMasters/slideMaster1.xml" Id="R6367b07d5ac34a7d" /><Relationship Type="http://schemas.openxmlformats.org/officeDocument/2006/relationships/notesMaster" Target="/ppt/notesMasters/notesMaster1.xml" Id="R9388ac7e601b42ad" /><Relationship Type="http://schemas.openxmlformats.org/officeDocument/2006/relationships/presProps" Target="/ppt/presProps.xml" Id="R3f32e5768b61429b" /><Relationship Type="http://schemas.openxmlformats.org/officeDocument/2006/relationships/tableStyles" Target="/ppt/tableStyles.xml" Id="R177915d4c2a34448" /><Relationship Type="http://schemas.openxmlformats.org/officeDocument/2006/relationships/slide" Target="/ppt/slides/slide1.xml" Id="Ref0023fc691648c7" /><Relationship Type="http://schemas.openxmlformats.org/officeDocument/2006/relationships/slide" Target="/ppt/slides/slide2.xml" Id="R8671133cbec04693" /><Relationship Type="http://schemas.openxmlformats.org/officeDocument/2006/relationships/slide" Target="/ppt/slides/slide3.xml" Id="R436418b531a1466b" /><Relationship Type="http://schemas.openxmlformats.org/officeDocument/2006/relationships/slide" Target="/ppt/slides/slide4.xml" Id="Ra6f16bd73d8448bb" /><Relationship Type="http://schemas.openxmlformats.org/officeDocument/2006/relationships/slide" Target="/ppt/slides/slide5.xml" Id="Reeed526ef71845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1f54b31b14b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2a0eee9fe2489c" /><Relationship Type="http://schemas.openxmlformats.org/officeDocument/2006/relationships/notesMaster" Target="/ppt/notesMasters/notesMaster1.xml" Id="R4765d7f712b148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c5da0822ac4044" /><Relationship Type="http://schemas.openxmlformats.org/officeDocument/2006/relationships/notesMaster" Target="/ppt/notesMasters/notesMaster1.xml" Id="Rc9dae153ceab46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b8f925f3f44c9a" /><Relationship Type="http://schemas.openxmlformats.org/officeDocument/2006/relationships/notesMaster" Target="/ppt/notesMasters/notesMaster1.xml" Id="Rcd241914aa1047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0346fd23e84bf8" /><Relationship Type="http://schemas.openxmlformats.org/officeDocument/2006/relationships/notesMaster" Target="/ppt/notesMasters/notesMaster1.xml" Id="Rf6157fdef648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a46bda41d94a54" /><Relationship Type="http://schemas.openxmlformats.org/officeDocument/2006/relationships/notesMaster" Target="/ppt/notesMasters/notesMaster1.xml" Id="Rabff8ee00fe048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Product positioning and capabilities synthesized from README.md, docs/PRD.md, and docs/RELEASE_NOTE_v0.1.md. Cover artwork generated for this deck and contains no external brand or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Problem framing is a concise synthesis of the problem statement and value proposition in docs/PRD.md. No performance metrics are claimed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Workflow based on serviceBot/graph/state.py, serviceBot/graph/routing.py, serviceBot/graph/nodes.py, and the capabilities documented in README.md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Integrations and portal capabilities based on serviceBot/services/calendar_availability.py, serviceBot/services/google_calendar.py, serviceBot/services/rag.py, serviceBot/services/gmail.py, serviceBot/services/twilio_sms.py, serviceBot/static/index.html,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Closing workflow and portal capabilities based on docs/PRD.md, README.md, serviceBot/static/index.html, and docs/RELEASE_NOTE_v0.1.md. Copy intentionally avoids unsupported ROI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deb236e3d46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556ed16ed64a17" /><Relationship Type="http://schemas.openxmlformats.org/officeDocument/2006/relationships/slideLayout" Target="/ppt/slideLayouts/slideLayout1.xml" Id="Rf41d0c7513664b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d0c7513664b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9b6645cec4440" /><Relationship Type="http://schemas.openxmlformats.org/officeDocument/2006/relationships/image" Target="/ppt/media/image.png" Id="R54a564ff784f457d" /><Relationship Type="http://schemas.openxmlformats.org/officeDocument/2006/relationships/notesSlide" Target="/ppt/notesSlides/notesSlide1.xml" Id="R9824e6ad9b1e44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b6979586f447d" /><Relationship Type="http://schemas.openxmlformats.org/officeDocument/2006/relationships/notesSlide" Target="/ppt/notesSlides/notesSlide2.xml" Id="R0371ce4929c34b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b4521449043d4" /><Relationship Type="http://schemas.openxmlformats.org/officeDocument/2006/relationships/notesSlide" Target="/ppt/notesSlides/notesSlide3.xml" Id="R5f7a81ca01514c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56e7edcc24b6f" /><Relationship Type="http://schemas.openxmlformats.org/officeDocument/2006/relationships/notesSlide" Target="/ppt/notesSlides/notesSlide4.xml" Id="Re82a74e5186c4d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2094a6734031" /><Relationship Type="http://schemas.openxmlformats.org/officeDocument/2006/relationships/notesSlide" Target="/ppt/notesSlides/notesSlide5.xml" Id="R1f1cac067c544c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564ff784f45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scrim">
            <a:extLst xmlns:a="http://schemas.openxmlformats.org/drawingml/2006/main">
              <a:ext uri="{FF2B5EF4-FFF2-40B4-BE49-F238E27FC236}">
                <a16:creationId xmlns:a16="http://schemas.microsoft.com/office/drawing/2014/main" id="{0A787B38-4CD8-4228-927A-69FFB35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80CC2BB7-B243-4C02-A5C3-226B640A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4" name="cover-brand-text">
            <a:extLst xmlns:a="http://schemas.openxmlformats.org/drawingml/2006/main">
              <a:ext uri="{FF2B5EF4-FFF2-40B4-BE49-F238E27FC236}">
                <a16:creationId xmlns:a16="http://schemas.microsoft.com/office/drawing/2014/main" id="{84242D88-480B-4A73-9B28-427A967D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86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D32B905-C371-4563-8000-A9E23D50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SALES PRESENTATION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61AA975-EDB2-4ECD-A960-E8C1A1B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E1D2"/>
            </a:solidFill>
            <a:prstDash val="solid"/>
          </a:ln>
        </p:spPr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A5B5954-291A-4FB9-A585-59A8ACB1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C21CDC8-7086-4AC8-A2C5-2E02A2F9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Conversational inbound call handling for service businesses.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850FA53E-EF71-441A-949C-9049DDC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rPr>
              <a:t>One voice conversation can capture the request, answer questions, and start the next operational step.</a:t>
            </a:r>
          </a:p>
        </p:txBody>
      </p:sp>
      <p:sp>
        <p:nvSpPr>
          <p:cNvPr id="10" name="cover-footer-label">
            <a:extLst xmlns:a="http://schemas.openxmlformats.org/drawingml/2006/main">
              <a:ext uri="{FF2B5EF4-FFF2-40B4-BE49-F238E27FC236}">
                <a16:creationId xmlns:a16="http://schemas.microsoft.com/office/drawing/2014/main" id="{A6398E7B-747D-4396-8C6E-BAAF2A3E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PRODUCT OVERVIEW</a:t>
            </a:r>
          </a:p>
        </p:txBody>
      </p:sp>
    </p:spTree>
    <p:extLst>
      <p:ext uri="{BB962C8B-B14F-4D97-AF65-F5344CB8AC3E}">
        <p14:creationId xmlns:p14="http://schemas.microsoft.com/office/powerpoint/2010/main" val="507625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blem-brand">
            <a:extLst xmlns:a="http://schemas.openxmlformats.org/drawingml/2006/main">
              <a:ext uri="{FF2B5EF4-FFF2-40B4-BE49-F238E27FC236}">
                <a16:creationId xmlns:a16="http://schemas.microsoft.com/office/drawing/2014/main" id="{A7D1C219-E6F4-46D1-A2D3-B3403D9C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problem-brand-text">
            <a:extLst xmlns:a="http://schemas.openxmlformats.org/drawingml/2006/main">
              <a:ext uri="{FF2B5EF4-FFF2-40B4-BE49-F238E27FC236}">
                <a16:creationId xmlns:a16="http://schemas.microsoft.com/office/drawing/2014/main" id="{62981B90-A9ED-4D8B-96BD-93F116B1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02D6386D-C6D4-436C-80FE-A1170CA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THE BUSINESS PROBLEM</a:t>
            </a:r>
          </a:p>
        </p:txBody>
      </p:sp>
      <p:sp>
        <p:nvSpPr>
          <p:cNvPr id="4" name="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9BCB2DC7-872A-4E8B-ADF9-30E8C5FD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phone is where service demand begins</a:t>
            </a:r>
          </a:p>
        </p:txBody>
      </p:sp>
      <p:sp>
        <p:nvSpPr>
          <p:cNvPr id="5" name="sub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5794C3B3-C2CF-4F33-A192-44827DF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staff cannot answer, the work does not wait.</a:t>
            </a:r>
          </a:p>
        </p:txBody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D7E087AC-7720-4F8F-8FCA-51DC1B37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F3282612-AA50-4AD2-9DA7-5F27002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MISSED CALLS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EC3CC1DF-AAE5-40A4-9DC4-3E2F2A1E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A customer leaves before anyone responds.</a:t>
            </a:r>
          </a:p>
        </p:txBody>
      </p:sp>
      <p:sp>
        <p:nvSpPr>
          <p:cNvPr id="9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7EAC99F7-E855-4018-AC04-B4B7D12A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B7DA8FD1-2DB8-4854-8EFA-47A5BF80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C207A61F-D6AB-4122-983A-DCE3099E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REPETITIVE FRONT-DESK WORK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16A81910-E509-46E3-B132-EF59FE1A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Staff re-enter the same details across tools.</a:t>
            </a:r>
          </a:p>
        </p:txBody>
      </p:sp>
      <p:sp>
        <p:nvSpPr>
          <p:cNvPr id="13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9205883A-A42A-45CC-92A2-6E64AA28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72393502-A708-46C8-8F79-86795C5D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0867406A-31BA-4656-A063-E5670859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FRAGMENTED FOLLOW-THROUGH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3D001206-A431-4D3F-9EDF-248B0944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Bookings, reminders, and handoffs depend on manual coordination.</a:t>
            </a:r>
          </a:p>
        </p:txBody>
      </p:sp>
      <p:sp>
        <p:nvSpPr>
          <p:cNvPr id="17" name="problem-before-label">
            <a:extLst xmlns:a="http://schemas.openxmlformats.org/drawingml/2006/main">
              <a:ext uri="{FF2B5EF4-FFF2-40B4-BE49-F238E27FC236}">
                <a16:creationId xmlns:a16="http://schemas.microsoft.com/office/drawing/2014/main" id="{71921C63-D15C-469D-B9BF-BDA31B04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THE TEAM IS BUSY</a:t>
            </a:r>
          </a:p>
        </p:txBody>
      </p:sp>
      <p:sp>
        <p:nvSpPr>
          <p:cNvPr id="18" name="problem-before-call">
            <a:extLst xmlns:a="http://schemas.openxmlformats.org/drawingml/2006/main">
              <a:ext uri="{FF2B5EF4-FFF2-40B4-BE49-F238E27FC236}">
                <a16:creationId xmlns:a16="http://schemas.microsoft.com/office/drawing/2014/main" id="{B9CEC445-AA71-4849-BA36-C52C7035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F39D84"/>
            </a:solidFill>
            <a:prstDash val="solid"/>
          </a:ln>
        </p:spPr>
      </p:sp>
      <p:sp>
        <p:nvSpPr>
          <p:cNvPr id="19" name="problem-before-call-text">
            <a:extLst xmlns:a="http://schemas.openxmlformats.org/drawingml/2006/main">
              <a:ext uri="{FF2B5EF4-FFF2-40B4-BE49-F238E27FC236}">
                <a16:creationId xmlns:a16="http://schemas.microsoft.com/office/drawing/2014/main" id="{8B8641B3-53D1-4715-91F3-F0F1AD26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33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0" name="problem-voicemail">
            <a:extLst xmlns:a="http://schemas.openxmlformats.org/drawingml/2006/main">
              <a:ext uri="{FF2B5EF4-FFF2-40B4-BE49-F238E27FC236}">
                <a16:creationId xmlns:a16="http://schemas.microsoft.com/office/drawing/2014/main" id="{926A5851-1D67-44EB-94B4-6BC1709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2C37B"/>
            </a:solidFill>
            <a:prstDash val="solid"/>
          </a:ln>
        </p:spPr>
      </p:sp>
      <p:sp>
        <p:nvSpPr>
          <p:cNvPr id="21" name="problem-voicemail-text">
            <a:extLst xmlns:a="http://schemas.openxmlformats.org/drawingml/2006/main">
              <a:ext uri="{FF2B5EF4-FFF2-40B4-BE49-F238E27FC236}">
                <a16:creationId xmlns:a16="http://schemas.microsoft.com/office/drawing/2014/main" id="{8132CD1F-DA4F-4907-AD2C-5334E20B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Voicemail or repeat call</a:t>
            </a:r>
          </a:p>
        </p:txBody>
      </p:sp>
      <p:cxnSp>
        <p:nvCxnSpPr>
          <p:cNvPr id="57" name=""/>
          <p:cNvCxnSpPr>
            <a:stCxn xmlns:a="http://schemas.openxmlformats.org/drawingml/2006/main" id="18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48550" y="30384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9D84"/>
            </a:solidFill>
            <a:prstDash val="solid"/>
            <a:headEnd type="arrow" w="sm" len="sm"/>
          </a:ln>
        </p:spPr>
      </p:cxnSp>
      <p:sp>
        <p:nvSpPr>
          <p:cNvPr id="23" name="problem-after-label">
            <a:extLst xmlns:a="http://schemas.openxmlformats.org/drawingml/2006/main">
              <a:ext uri="{FF2B5EF4-FFF2-40B4-BE49-F238E27FC236}">
                <a16:creationId xmlns:a16="http://schemas.microsoft.com/office/drawing/2014/main" id="{D76BAD4A-74FA-4238-B366-BC333CD4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WITH VOICEAI</a:t>
            </a:r>
          </a:p>
        </p:txBody>
      </p:sp>
      <p:sp>
        <p:nvSpPr>
          <p:cNvPr id="24" name="problem-after-call">
            <a:extLst xmlns:a="http://schemas.openxmlformats.org/drawingml/2006/main">
              <a:ext uri="{FF2B5EF4-FFF2-40B4-BE49-F238E27FC236}">
                <a16:creationId xmlns:a16="http://schemas.microsoft.com/office/drawing/2014/main" id="{83B41B26-2933-435D-BB07-3DC91F6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5" name="problem-after-call-text">
            <a:extLst xmlns:a="http://schemas.openxmlformats.org/drawingml/2006/main">
              <a:ext uri="{FF2B5EF4-FFF2-40B4-BE49-F238E27FC236}">
                <a16:creationId xmlns:a16="http://schemas.microsoft.com/office/drawing/2014/main" id="{8ED83FD6-63A0-4862-A6C6-7B642471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6" name="problem-conversation">
            <a:extLst xmlns:a="http://schemas.openxmlformats.org/drawingml/2006/main">
              <a:ext uri="{FF2B5EF4-FFF2-40B4-BE49-F238E27FC236}">
                <a16:creationId xmlns:a16="http://schemas.microsoft.com/office/drawing/2014/main" id="{8FF2C4F8-C888-4F30-A5D8-376090E2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1257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7" name="problem-conversation-text">
            <a:extLst xmlns:a="http://schemas.openxmlformats.org/drawingml/2006/main">
              <a:ext uri="{FF2B5EF4-FFF2-40B4-BE49-F238E27FC236}">
                <a16:creationId xmlns:a16="http://schemas.microsoft.com/office/drawing/2014/main" id="{E7D01E4E-4FC5-4716-A64F-78EA699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Useful conversation</a:t>
            </a:r>
          </a:p>
        </p:txBody>
      </p:sp>
      <p:sp>
        <p:nvSpPr>
          <p:cNvPr id="28" name="problem-next-step">
            <a:extLst xmlns:a="http://schemas.openxmlformats.org/drawingml/2006/main">
              <a:ext uri="{FF2B5EF4-FFF2-40B4-BE49-F238E27FC236}">
                <a16:creationId xmlns:a16="http://schemas.microsoft.com/office/drawing/2014/main" id="{CD330148-DD88-4034-B329-24FCE696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695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9" name="problem-next-step-text">
            <a:extLst xmlns:a="http://schemas.openxmlformats.org/drawingml/2006/main">
              <a:ext uri="{FF2B5EF4-FFF2-40B4-BE49-F238E27FC236}">
                <a16:creationId xmlns:a16="http://schemas.microsoft.com/office/drawing/2014/main" id="{B4D945AE-C383-4C81-ACFF-23B4D56E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05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cxnSp>
        <p:nvCxnSpPr>
          <p:cNvPr id="65" name=""/>
          <p:cNvCxnSpPr>
            <a:stCxn xmlns:a="http://schemas.openxmlformats.org/drawingml/2006/main" id="24" idx="6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448550" y="4600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prstDash val="solid"/>
            <a:headEnd type="arrow" w="sm" len="sm"/>
          </a:ln>
        </p:spPr>
      </p:cxnSp>
      <p:cxnSp>
        <p:nvCxnSpPr>
          <p:cNvPr id="66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124950" y="46005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prstDash val="solid"/>
            <a:headEnd type="arrow" w="sm" len="sm"/>
          </a:ln>
        </p:spPr>
      </p:cxnSp>
      <p:sp>
        <p:nvSpPr>
          <p:cNvPr id="32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3D6E08BD-8EA4-46E6-98B1-FD61B37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VoiceAI keeps the first conversation useful, even when the team is busy.</a:t>
            </a:r>
          </a:p>
        </p:txBody>
      </p:sp>
      <p:sp>
        <p:nvSpPr>
          <p:cNvPr id="3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F2002025-EEA3-4060-97EA-65B616C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51CFD259-A38E-486B-87BB-8B9A406F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A1C6AEB-43B8-41D2-9FA5-4CBC444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558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workflow-brand">
            <a:extLst xmlns:a="http://schemas.openxmlformats.org/drawingml/2006/main">
              <a:ext uri="{FF2B5EF4-FFF2-40B4-BE49-F238E27FC236}">
                <a16:creationId xmlns:a16="http://schemas.microsoft.com/office/drawing/2014/main" id="{9F7003BE-D7C8-4E2E-AC78-E5A6F5F8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workflow-brand-text">
            <a:extLst xmlns:a="http://schemas.openxmlformats.org/drawingml/2006/main">
              <a:ext uri="{FF2B5EF4-FFF2-40B4-BE49-F238E27FC236}">
                <a16:creationId xmlns:a16="http://schemas.microsoft.com/office/drawing/2014/main" id="{EDC26B2E-EAF1-4334-B972-F5BFED2F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E1FD5444-4A3A-4F01-A9EA-AB59E190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THE PRODUCT WORKFLOW</a:t>
            </a:r>
          </a:p>
        </p:txBody>
      </p:sp>
      <p:sp>
        <p:nvSpPr>
          <p:cNvPr id="4" name="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78D9232A-ED33-42BF-ADF4-EA2930DD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conversation, several business actions</a:t>
            </a:r>
          </a:p>
        </p:txBody>
      </p:sp>
      <p:sp>
        <p:nvSpPr>
          <p:cNvPr id="5" name="sub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621E3681-85A5-441A-AB9B-5FE137DE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VoiceAI routes the request to the right next step while keeping the caller’s context in one place.</a:t>
            </a:r>
          </a:p>
        </p:txBody>
      </p:sp>
      <p:sp>
        <p:nvSpPr>
          <p:cNvPr id="6" name="workflow-call">
            <a:extLst xmlns:a="http://schemas.openxmlformats.org/drawingml/2006/main">
              <a:ext uri="{FF2B5EF4-FFF2-40B4-BE49-F238E27FC236}">
                <a16:creationId xmlns:a16="http://schemas.microsoft.com/office/drawing/2014/main" id="{A947EE9B-847B-43BE-90BB-A29A59D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call-text">
            <a:extLst xmlns:a="http://schemas.openxmlformats.org/drawingml/2006/main">
              <a:ext uri="{FF2B5EF4-FFF2-40B4-BE49-F238E27FC236}">
                <a16:creationId xmlns:a16="http://schemas.microsoft.com/office/drawing/2014/main" id="{662DCE21-C492-4DB8-BE92-7225F3D1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INBOUND</a:t>
            </a:r>
          </a:p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8" name="workflow-router">
            <a:extLst xmlns:a="http://schemas.openxmlformats.org/drawingml/2006/main">
              <a:ext uri="{FF2B5EF4-FFF2-40B4-BE49-F238E27FC236}">
                <a16:creationId xmlns:a16="http://schemas.microsoft.com/office/drawing/2014/main" id="{540FE51E-B2F2-45EB-9ECD-B54B09F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9" name="workflow-router-title">
            <a:extLst xmlns:a="http://schemas.openxmlformats.org/drawingml/2006/main">
              <a:ext uri="{FF2B5EF4-FFF2-40B4-BE49-F238E27FC236}">
                <a16:creationId xmlns:a16="http://schemas.microsoft.com/office/drawing/2014/main" id="{280F1548-5C18-4287-853C-15C1A826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INTENT ROUTING</a:t>
            </a:r>
          </a:p>
        </p:txBody>
      </p:sp>
      <p:sp>
        <p:nvSpPr>
          <p:cNvPr id="10" name="workflow-router-body">
            <a:extLst xmlns:a="http://schemas.openxmlformats.org/drawingml/2006/main">
              <a:ext uri="{FF2B5EF4-FFF2-40B4-BE49-F238E27FC236}">
                <a16:creationId xmlns:a16="http://schemas.microsoft.com/office/drawing/2014/main" id="{EA406112-9E20-4A6B-A955-312460B8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Caller history + request context</a:t>
            </a:r>
          </a:p>
        </p:txBody>
      </p:sp>
      <p:cxnSp>
        <p:nvCxnSpPr>
          <p:cNvPr id="46" name=""/>
          <p:cNvCxnSpPr>
            <a:stCxn xmlns:a="http://schemas.openxmlformats.org/drawingml/2006/main" id="6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809750" y="33909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E1D2"/>
            </a:solidFill>
            <a:prstDash val="solid"/>
            <a:headEnd type="arrow" w="med" len="med"/>
          </a:ln>
        </p:spPr>
      </p:cxnSp>
      <p:sp>
        <p:nvSpPr>
          <p:cNvPr id="12" name="workflow-destination-0">
            <a:extLst xmlns:a="http://schemas.openxmlformats.org/drawingml/2006/main">
              <a:ext uri="{FF2B5EF4-FFF2-40B4-BE49-F238E27FC236}">
                <a16:creationId xmlns:a16="http://schemas.microsoft.com/office/drawing/2014/main" id="{13EF11F2-7E84-4469-915C-9A8605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A4FBDBEB-6A8F-45C0-956B-638333D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destination-label-0">
            <a:extLst xmlns:a="http://schemas.openxmlformats.org/drawingml/2006/main">
              <a:ext uri="{FF2B5EF4-FFF2-40B4-BE49-F238E27FC236}">
                <a16:creationId xmlns:a16="http://schemas.microsoft.com/office/drawing/2014/main" id="{FBD94178-1CBB-487C-ACCD-D2702244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SERVICE INTAKE</a:t>
            </a:r>
          </a:p>
        </p:txBody>
      </p:sp>
      <p:sp>
        <p:nvSpPr>
          <p:cNvPr id="15" name="workflow-destination-body-0">
            <a:extLst xmlns:a="http://schemas.openxmlformats.org/drawingml/2006/main">
              <a:ext uri="{FF2B5EF4-FFF2-40B4-BE49-F238E27FC236}">
                <a16:creationId xmlns:a16="http://schemas.microsoft.com/office/drawing/2014/main" id="{7C56C939-531F-4E4F-9598-6D48238D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Capture the right details</a:t>
            </a:r>
          </a:p>
        </p:txBody>
      </p: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381500" y="2667000"/>
            <a:ext cx="83820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486"/>
            </a:solidFill>
            <a:prstDash val="solid"/>
            <a:headEnd type="arrow" w="sm" len="sm"/>
          </a:ln>
        </p:spPr>
      </p:cxnSp>
      <p:sp>
        <p:nvSpPr>
          <p:cNvPr id="17" name="workflow-destination-1">
            <a:extLst xmlns:a="http://schemas.openxmlformats.org/drawingml/2006/main">
              <a:ext uri="{FF2B5EF4-FFF2-40B4-BE49-F238E27FC236}">
                <a16:creationId xmlns:a16="http://schemas.microsoft.com/office/drawing/2014/main" id="{A37E4041-6533-43DE-A51E-7B1605D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18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1980ADAC-4A3A-4298-9BCE-A5EEA245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orkflow-destination-label-1">
            <a:extLst xmlns:a="http://schemas.openxmlformats.org/drawingml/2006/main">
              <a:ext uri="{FF2B5EF4-FFF2-40B4-BE49-F238E27FC236}">
                <a16:creationId xmlns:a16="http://schemas.microsoft.com/office/drawing/2014/main" id="{F0EDEF0E-A2BB-40C6-9023-230F510C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APPOINTMENT BOOKING</a:t>
            </a:r>
          </a:p>
        </p:txBody>
      </p:sp>
      <p:sp>
        <p:nvSpPr>
          <p:cNvPr id="20" name="workflow-destination-body-1">
            <a:extLst xmlns:a="http://schemas.openxmlformats.org/drawingml/2006/main">
              <a:ext uri="{FF2B5EF4-FFF2-40B4-BE49-F238E27FC236}">
                <a16:creationId xmlns:a16="http://schemas.microsoft.com/office/drawing/2014/main" id="{EFBE36FE-E70E-4B93-A006-3E5820D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Check and reserve a slot</a:t>
            </a:r>
          </a:p>
        </p:txBody>
      </p: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381500" y="2667000"/>
            <a:ext cx="3429000" cy="723900"/>
          </a:xfrm>
          <a:prstGeom xmlns:a="http://schemas.openxmlformats.org/drawingml/2006/main" prst="bentConnector3">
            <a:avLst>
              <a:gd name="adj1" fmla="val 93333"/>
            </a:avLst>
          </a:prstGeom>
          <a:ln xmlns:a="http://schemas.openxmlformats.org/drawingml/2006/main" w="19050">
            <a:solidFill>
              <a:srgbClr val="5FE1D2"/>
            </a:solidFill>
            <a:prstDash val="solid"/>
            <a:headEnd type="arrow" w="sm" len="sm"/>
          </a:ln>
        </p:spPr>
      </p:cxnSp>
      <p:sp>
        <p:nvSpPr>
          <p:cNvPr id="22" name="workflow-destination-2">
            <a:extLst xmlns:a="http://schemas.openxmlformats.org/drawingml/2006/main">
              <a:ext uri="{FF2B5EF4-FFF2-40B4-BE49-F238E27FC236}">
                <a16:creationId xmlns:a16="http://schemas.microsoft.com/office/drawing/2014/main" id="{8DC7B369-BA71-4392-AA23-B8186EB0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23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0F9FBB06-4C40-4084-AC7E-6B6916C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orkflow-destination-label-2">
            <a:extLst xmlns:a="http://schemas.openxmlformats.org/drawingml/2006/main">
              <a:ext uri="{FF2B5EF4-FFF2-40B4-BE49-F238E27FC236}">
                <a16:creationId xmlns:a16="http://schemas.microsoft.com/office/drawing/2014/main" id="{9714E465-0317-4225-9A23-E9A45D36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FAQ ANSWER</a:t>
            </a:r>
          </a:p>
        </p:txBody>
      </p:sp>
      <p:sp>
        <p:nvSpPr>
          <p:cNvPr id="25" name="workflow-destination-body-2">
            <a:extLst xmlns:a="http://schemas.openxmlformats.org/drawingml/2006/main">
              <a:ext uri="{FF2B5EF4-FFF2-40B4-BE49-F238E27FC236}">
                <a16:creationId xmlns:a16="http://schemas.microsoft.com/office/drawing/2014/main" id="{C9B93C83-8513-4EB2-ADDA-71CE6ED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Use the business knowledge base</a:t>
            </a:r>
          </a:p>
        </p:txBody>
      </p: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381500" y="3390900"/>
            <a:ext cx="83820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486"/>
            </a:solidFill>
            <a:prstDash val="solid"/>
            <a:headEnd type="arrow" w="sm" len="sm"/>
          </a:ln>
        </p:spPr>
      </p:cxnSp>
      <p:sp>
        <p:nvSpPr>
          <p:cNvPr id="27" name="workflow-destination-3">
            <a:extLst xmlns:a="http://schemas.openxmlformats.org/drawingml/2006/main">
              <a:ext uri="{FF2B5EF4-FFF2-40B4-BE49-F238E27FC236}">
                <a16:creationId xmlns:a16="http://schemas.microsoft.com/office/drawing/2014/main" id="{A4DAC6EB-1801-4C85-B5EE-B381A40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28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75D39BCE-AA4C-4BC7-8364-6DC74F0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orkflow-destination-label-3">
            <a:extLst xmlns:a="http://schemas.openxmlformats.org/drawingml/2006/main">
              <a:ext uri="{FF2B5EF4-FFF2-40B4-BE49-F238E27FC236}">
                <a16:creationId xmlns:a16="http://schemas.microsoft.com/office/drawing/2014/main" id="{4B0535E9-1158-4BF2-9680-77E7923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CALLBACK OR HANDOFF</a:t>
            </a:r>
          </a:p>
        </p:txBody>
      </p:sp>
      <p:sp>
        <p:nvSpPr>
          <p:cNvPr id="30" name="workflow-destination-body-3">
            <a:extLst xmlns:a="http://schemas.openxmlformats.org/drawingml/2006/main">
              <a:ext uri="{FF2B5EF4-FFF2-40B4-BE49-F238E27FC236}">
                <a16:creationId xmlns:a16="http://schemas.microsoft.com/office/drawing/2014/main" id="{5A8CEA75-66B6-414F-B350-6D26CE4D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Keep the next action clear</a:t>
            </a:r>
          </a:p>
        </p:txBody>
      </p: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381500" y="3390900"/>
            <a:ext cx="3429000" cy="1257300"/>
          </a:xfrm>
          <a:prstGeom xmlns:a="http://schemas.openxmlformats.org/drawingml/2006/main" prst="bentConnector3">
            <a:avLst>
              <a:gd name="adj1" fmla="val 93333"/>
            </a:avLst>
          </a:prstGeom>
          <a:ln xmlns:a="http://schemas.openxmlformats.org/drawingml/2006/main" w="19050">
            <a:solidFill>
              <a:srgbClr val="4B7486"/>
            </a:solidFill>
            <a:prstDash val="solid"/>
            <a:headEnd type="arrow" w="sm" len="sm"/>
          </a:ln>
        </p:spPr>
      </p:cxnSp>
      <p:sp>
        <p:nvSpPr>
          <p:cNvPr id="32" name="workflow-bottom-note">
            <a:extLst xmlns:a="http://schemas.openxmlformats.org/drawingml/2006/main">
              <a:ext uri="{FF2B5EF4-FFF2-40B4-BE49-F238E27FC236}">
                <a16:creationId xmlns:a16="http://schemas.microsoft.com/office/drawing/2014/main" id="{13EAA1E8-464B-486B-A996-F0C4C651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rPr>
              <a:t>Structured records and summaries give staff a clear handoff when the call continues beyond automation.</a:t>
            </a:r>
          </a:p>
        </p:txBody>
      </p:sp>
      <p:sp>
        <p:nvSpPr>
          <p:cNvPr id="3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3819E89-91CD-4306-BE02-B7F4C2E7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3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78FCEBDA-EFC1-4655-A3D8-8A9267D1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DDCAA90-B46B-4247-A36C-C008BF3E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0591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perations-brand">
            <a:extLst xmlns:a="http://schemas.openxmlformats.org/drawingml/2006/main">
              <a:ext uri="{FF2B5EF4-FFF2-40B4-BE49-F238E27FC236}">
                <a16:creationId xmlns:a16="http://schemas.microsoft.com/office/drawing/2014/main" id="{2EADAE65-9FC9-46B8-9F62-B91C4FB5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operations-brand-text">
            <a:extLst xmlns:a="http://schemas.openxmlformats.org/drawingml/2006/main">
              <a:ext uri="{FF2B5EF4-FFF2-40B4-BE49-F238E27FC236}">
                <a16:creationId xmlns:a16="http://schemas.microsoft.com/office/drawing/2014/main" id="{CB8DD79F-80E0-4E7C-B298-DD5DCEF4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121960B6-D961-45CB-A9B5-36D853B9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CONNECTED OPERATIONS</a:t>
            </a:r>
          </a:p>
        </p:txBody>
      </p:sp>
      <p:sp>
        <p:nvSpPr>
          <p:cNvPr id="4" name="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F4DB5F7A-5956-4C32-AC5E-F57A5DE9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call connects to the operation</a:t>
            </a:r>
          </a:p>
        </p:txBody>
      </p:sp>
      <p:sp>
        <p:nvSpPr>
          <p:cNvPr id="5" name="sub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53BFEEE1-6F0B-4A14-814B-29CD2C81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VoiceAI turns a conversation into updates the team can act on.</a:t>
            </a:r>
          </a:p>
        </p:txBody>
      </p:sp>
      <p:sp>
        <p:nvSpPr>
          <p:cNvPr id="6" name="operations-center">
            <a:extLst xmlns:a="http://schemas.openxmlformats.org/drawingml/2006/main">
              <a:ext uri="{FF2B5EF4-FFF2-40B4-BE49-F238E27FC236}">
                <a16:creationId xmlns:a16="http://schemas.microsoft.com/office/drawing/2014/main" id="{CEDD8773-D539-4C0E-8CEE-82D25E3D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7" name="operations-center-title">
            <a:extLst xmlns:a="http://schemas.openxmlformats.org/drawingml/2006/main">
              <a:ext uri="{FF2B5EF4-FFF2-40B4-BE49-F238E27FC236}">
                <a16:creationId xmlns:a16="http://schemas.microsoft.com/office/drawing/2014/main" id="{AF4C561F-ADF6-4034-87B0-4F2FB168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62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operations-center-body">
            <a:extLst xmlns:a="http://schemas.openxmlformats.org/drawingml/2006/main">
              <a:ext uri="{FF2B5EF4-FFF2-40B4-BE49-F238E27FC236}">
                <a16:creationId xmlns:a16="http://schemas.microsoft.com/office/drawing/2014/main" id="{483AB0A0-33BE-4223-BB20-27B96162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04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→ action</a:t>
            </a:r>
          </a:p>
        </p:txBody>
      </p:sp>
      <p:sp>
        <p:nvSpPr>
          <p:cNvPr id="9" name="operations-node-0">
            <a:extLst xmlns:a="http://schemas.openxmlformats.org/drawingml/2006/main">
              <a:ext uri="{FF2B5EF4-FFF2-40B4-BE49-F238E27FC236}">
                <a16:creationId xmlns:a16="http://schemas.microsoft.com/office/drawing/2014/main" id="{47D2BE49-9671-4B6A-975E-8A116DA5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0" name="operations-dot-0">
            <a:extLst xmlns:a="http://schemas.openxmlformats.org/drawingml/2006/main">
              <a:ext uri="{FF2B5EF4-FFF2-40B4-BE49-F238E27FC236}">
                <a16:creationId xmlns:a16="http://schemas.microsoft.com/office/drawing/2014/main" id="{BBA756F0-7232-4DE1-B9A8-189A7E5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erations-label-0">
            <a:extLst xmlns:a="http://schemas.openxmlformats.org/drawingml/2006/main">
              <a:ext uri="{FF2B5EF4-FFF2-40B4-BE49-F238E27FC236}">
                <a16:creationId xmlns:a16="http://schemas.microsoft.com/office/drawing/2014/main" id="{FC13FB32-02CB-4E1A-9CA5-C44ECC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CUSTOMER RECORDS</a:t>
            </a:r>
          </a:p>
        </p:txBody>
      </p:sp>
      <p:sp>
        <p:nvSpPr>
          <p:cNvPr id="12" name="operations-body-0">
            <a:extLst xmlns:a="http://schemas.openxmlformats.org/drawingml/2006/main">
              <a:ext uri="{FF2B5EF4-FFF2-40B4-BE49-F238E27FC236}">
                <a16:creationId xmlns:a16="http://schemas.microsoft.com/office/drawing/2014/main" id="{FB3B75B0-CCB0-401C-80FE-6DA702AB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History, vehicle details, active requests</a:t>
            </a:r>
          </a:p>
        </p:txBody>
      </p: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619500" y="2819400"/>
            <a:ext cx="15811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4" name="operations-node-1">
            <a:extLst xmlns:a="http://schemas.openxmlformats.org/drawingml/2006/main">
              <a:ext uri="{FF2B5EF4-FFF2-40B4-BE49-F238E27FC236}">
                <a16:creationId xmlns:a16="http://schemas.microsoft.com/office/drawing/2014/main" id="{FB6C30F0-F3FE-4042-A817-9EDB63ED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5" name="operations-dot-1">
            <a:extLst xmlns:a="http://schemas.openxmlformats.org/drawingml/2006/main">
              <a:ext uri="{FF2B5EF4-FFF2-40B4-BE49-F238E27FC236}">
                <a16:creationId xmlns:a16="http://schemas.microsoft.com/office/drawing/2014/main" id="{8DEDB95A-F6CA-4BF6-9205-6A1483F5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erations-label-1">
            <a:extLst xmlns:a="http://schemas.openxmlformats.org/drawingml/2006/main">
              <a:ext uri="{FF2B5EF4-FFF2-40B4-BE49-F238E27FC236}">
                <a16:creationId xmlns:a16="http://schemas.microsoft.com/office/drawing/2014/main" id="{5035E51B-25B5-4E66-B9FC-CCEE594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GOOGLE CALENDAR</a:t>
            </a:r>
          </a:p>
        </p:txBody>
      </p:sp>
      <p:sp>
        <p:nvSpPr>
          <p:cNvPr id="17" name="operations-body-1">
            <a:extLst xmlns:a="http://schemas.openxmlformats.org/drawingml/2006/main">
              <a:ext uri="{FF2B5EF4-FFF2-40B4-BE49-F238E27FC236}">
                <a16:creationId xmlns:a16="http://schemas.microsoft.com/office/drawing/2014/main" id="{49FDF718-D8B6-4D51-900C-C9FDC8C3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Availability and booked slots</a:t>
            </a:r>
          </a:p>
        </p:txBody>
      </p:sp>
      <p:cxnSp>
        <p:nvCxnSpPr>
          <p:cNvPr id="55" name=""/>
          <p:cNvCxnSpPr>
            <a:stCxn xmlns:a="http://schemas.openxmlformats.org/drawingml/2006/main" id="6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53250" y="2819400"/>
            <a:ext cx="15621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9" name="operations-node-2">
            <a:extLst xmlns:a="http://schemas.openxmlformats.org/drawingml/2006/main">
              <a:ext uri="{FF2B5EF4-FFF2-40B4-BE49-F238E27FC236}">
                <a16:creationId xmlns:a16="http://schemas.microsoft.com/office/drawing/2014/main" id="{EA325774-25F3-48C5-A551-AFB8FA0E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0" name="operations-dot-2">
            <a:extLst xmlns:a="http://schemas.openxmlformats.org/drawingml/2006/main">
              <a:ext uri="{FF2B5EF4-FFF2-40B4-BE49-F238E27FC236}">
                <a16:creationId xmlns:a16="http://schemas.microsoft.com/office/drawing/2014/main" id="{901E1364-7ACE-44D9-BB4B-114EA87D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perations-label-2">
            <a:extLst xmlns:a="http://schemas.openxmlformats.org/drawingml/2006/main">
              <a:ext uri="{FF2B5EF4-FFF2-40B4-BE49-F238E27FC236}">
                <a16:creationId xmlns:a16="http://schemas.microsoft.com/office/drawing/2014/main" id="{93107F32-5791-4981-9C3F-4A40D087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KNOWLEDGE BASE</a:t>
            </a:r>
          </a:p>
        </p:txBody>
      </p:sp>
      <p:sp>
        <p:nvSpPr>
          <p:cNvPr id="22" name="operations-body-2">
            <a:extLst xmlns:a="http://schemas.openxmlformats.org/drawingml/2006/main">
              <a:ext uri="{FF2B5EF4-FFF2-40B4-BE49-F238E27FC236}">
                <a16:creationId xmlns:a16="http://schemas.microsoft.com/office/drawing/2014/main" id="{804DE737-73D0-4792-BADC-3C70C482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Business answers grounded in source material</a:t>
            </a:r>
          </a:p>
        </p:txBody>
      </p:sp>
      <p:cxnSp>
        <p:nvCxnSpPr>
          <p:cNvPr id="60" name=""/>
          <p:cNvCxnSpPr>
            <a:stCxn xmlns:a="http://schemas.openxmlformats.org/drawingml/2006/main" id="6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619500" y="3505200"/>
            <a:ext cx="158115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4" name="operations-node-3">
            <a:extLst xmlns:a="http://schemas.openxmlformats.org/drawingml/2006/main">
              <a:ext uri="{FF2B5EF4-FFF2-40B4-BE49-F238E27FC236}">
                <a16:creationId xmlns:a16="http://schemas.microsoft.com/office/drawing/2014/main" id="{2A21E415-384F-42CE-9CD3-509782FE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5" name="operations-dot-3">
            <a:extLst xmlns:a="http://schemas.openxmlformats.org/drawingml/2006/main">
              <a:ext uri="{FF2B5EF4-FFF2-40B4-BE49-F238E27FC236}">
                <a16:creationId xmlns:a16="http://schemas.microsoft.com/office/drawing/2014/main" id="{130B3630-1861-4934-8B4D-9F01176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perations-label-3">
            <a:extLst xmlns:a="http://schemas.openxmlformats.org/drawingml/2006/main">
              <a:ext uri="{FF2B5EF4-FFF2-40B4-BE49-F238E27FC236}">
                <a16:creationId xmlns:a16="http://schemas.microsoft.com/office/drawing/2014/main" id="{EAA05963-E4A5-4261-A0F6-91C7FADF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EMAIL + SMS</a:t>
            </a:r>
          </a:p>
        </p:txBody>
      </p:sp>
      <p:sp>
        <p:nvSpPr>
          <p:cNvPr id="27" name="operations-body-3">
            <a:extLst xmlns:a="http://schemas.openxmlformats.org/drawingml/2006/main">
              <a:ext uri="{FF2B5EF4-FFF2-40B4-BE49-F238E27FC236}">
                <a16:creationId xmlns:a16="http://schemas.microsoft.com/office/drawing/2014/main" id="{D44DFA70-D990-4A1E-B21F-7F25C07B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Customer and staff notifications</a:t>
            </a:r>
          </a:p>
        </p:txBody>
      </p:sp>
      <p:cxnSp>
        <p:nvCxnSpPr>
          <p:cNvPr id="65" name=""/>
          <p:cNvCxnSpPr>
            <a:stCxn xmlns:a="http://schemas.openxmlformats.org/drawingml/2006/main" id="6" idx="6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953250" y="3505200"/>
            <a:ext cx="156210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9" name="operations-portal-band">
            <a:extLst xmlns:a="http://schemas.openxmlformats.org/drawingml/2006/main">
              <a:ext uri="{FF2B5EF4-FFF2-40B4-BE49-F238E27FC236}">
                <a16:creationId xmlns:a16="http://schemas.microsoft.com/office/drawing/2014/main" id="{F60B6124-2EB8-4701-B9DB-7BEC1551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perations-portal-title">
            <a:extLst xmlns:a="http://schemas.openxmlformats.org/drawingml/2006/main">
              <a:ext uri="{FF2B5EF4-FFF2-40B4-BE49-F238E27FC236}">
                <a16:creationId xmlns:a16="http://schemas.microsoft.com/office/drawing/2014/main" id="{B0916A91-E224-43E9-A97F-2BA696D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31" name="operations-portal-transcripts">
            <a:extLst xmlns:a="http://schemas.openxmlformats.org/drawingml/2006/main">
              <a:ext uri="{FF2B5EF4-FFF2-40B4-BE49-F238E27FC236}">
                <a16:creationId xmlns:a16="http://schemas.microsoft.com/office/drawing/2014/main" id="{2ED3453F-2628-426F-8117-3E9D860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67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Transcripts</a:t>
            </a:r>
          </a:p>
        </p:txBody>
      </p:sp>
      <p:sp>
        <p:nvSpPr>
          <p:cNvPr id="32" name="operations-portal-catalog">
            <a:extLst xmlns:a="http://schemas.openxmlformats.org/drawingml/2006/main">
              <a:ext uri="{FF2B5EF4-FFF2-40B4-BE49-F238E27FC236}">
                <a16:creationId xmlns:a16="http://schemas.microsoft.com/office/drawing/2014/main" id="{F12EE5CB-355E-4257-B3C2-A41BFB98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67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33" name="operations-portal-calendar">
            <a:extLst xmlns:a="http://schemas.openxmlformats.org/drawingml/2006/main">
              <a:ext uri="{FF2B5EF4-FFF2-40B4-BE49-F238E27FC236}">
                <a16:creationId xmlns:a16="http://schemas.microsoft.com/office/drawing/2014/main" id="{00023546-BA1D-4284-9D46-60E55404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67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34" name="operations-portal-escalation">
            <a:extLst xmlns:a="http://schemas.openxmlformats.org/drawingml/2006/main">
              <a:ext uri="{FF2B5EF4-FFF2-40B4-BE49-F238E27FC236}">
                <a16:creationId xmlns:a16="http://schemas.microsoft.com/office/drawing/2014/main" id="{F5FD9840-83C3-4AD9-82A8-75D95E2A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visibility</a:t>
            </a:r>
          </a:p>
        </p:txBody>
      </p:sp>
      <p:sp>
        <p:nvSpPr>
          <p:cNvPr id="3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D68197A5-88FB-43F3-AE7E-F79E21EE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9A60E55C-586C-48A9-80D2-F54C7E4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E5E3529F-9F6A-4B69-8632-54612EDD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0014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close-brand">
            <a:extLst xmlns:a="http://schemas.openxmlformats.org/drawingml/2006/main">
              <a:ext uri="{FF2B5EF4-FFF2-40B4-BE49-F238E27FC236}">
                <a16:creationId xmlns:a16="http://schemas.microsoft.com/office/drawing/2014/main" id="{17CCDF07-4682-42CD-8879-3B07C96C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close-brand-text">
            <a:extLst xmlns:a="http://schemas.openxmlformats.org/drawingml/2006/main">
              <a:ext uri="{FF2B5EF4-FFF2-40B4-BE49-F238E27FC236}">
                <a16:creationId xmlns:a16="http://schemas.microsoft.com/office/drawing/2014/main" id="{E20E911D-BF9F-46E3-A985-25C91995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FA526315-F091-4894-8071-C03E31F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 PRACTICAL STARTING POINT</a:t>
            </a:r>
          </a:p>
        </p:txBody>
      </p:sp>
      <p:sp>
        <p:nvSpPr>
          <p:cNvPr id="4" name="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D80DAF6A-9073-4573-9B3F-F2D3FD8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with one high-volume call flow</a:t>
            </a:r>
          </a:p>
        </p:txBody>
      </p:sp>
      <p:sp>
        <p:nvSpPr>
          <p:cNvPr id="5" name="sub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56CFB571-07CC-4289-84B3-CB138150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A focused pilot lets the team map the conversation, the systems it touches, and the next operational step.</a:t>
            </a:r>
          </a:p>
        </p:txBody>
      </p:sp>
      <p:sp>
        <p:nvSpPr>
          <p:cNvPr id="6" name="close-example-kicker">
            <a:extLst xmlns:a="http://schemas.openxmlformats.org/drawingml/2006/main">
              <a:ext uri="{FF2B5EF4-FFF2-40B4-BE49-F238E27FC236}">
                <a16:creationId xmlns:a16="http://schemas.microsoft.com/office/drawing/2014/main" id="{2F2AF387-0A4C-4AAC-A114-387F0A88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AUTO-SERVICE EXAMPLE</a:t>
            </a:r>
          </a:p>
        </p:txBody>
      </p:sp>
      <p:sp>
        <p:nvSpPr>
          <p:cNvPr id="7" name="close-example-body">
            <a:extLst xmlns:a="http://schemas.openxmlformats.org/drawingml/2006/main">
              <a:ext uri="{FF2B5EF4-FFF2-40B4-BE49-F238E27FC236}">
                <a16:creationId xmlns:a16="http://schemas.microsoft.com/office/drawing/2014/main" id="{4D6A4B53-8E89-49F5-AF0A-F582316F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brake-repair call becomes a captured service request, a viable appointment slot, and a clear staff follow-up.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43C3CC99-765B-483C-A970-BB14594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9" name="close-pilot-label">
            <a:extLst xmlns:a="http://schemas.openxmlformats.org/drawingml/2006/main">
              <a:ext uri="{FF2B5EF4-FFF2-40B4-BE49-F238E27FC236}">
                <a16:creationId xmlns:a16="http://schemas.microsoft.com/office/drawing/2014/main" id="{004EBAAB-BC65-4404-879D-56494573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Pilot scope</a:t>
            </a:r>
          </a:p>
        </p:txBody>
      </p:sp>
      <p:sp>
        <p:nvSpPr>
          <p:cNvPr id="10" name="close-pilot-list">
            <a:extLst xmlns:a="http://schemas.openxmlformats.org/drawingml/2006/main">
              <a:ext uri="{FF2B5EF4-FFF2-40B4-BE49-F238E27FC236}">
                <a16:creationId xmlns:a16="http://schemas.microsoft.com/office/drawing/2014/main" id="{C76C9C01-22EB-473B-83AE-528485A3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Configure the service catalog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Connect calendars and notifications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Review transcripts and exceptions</a:t>
            </a:r>
          </a:p>
        </p:txBody>
      </p:sp>
      <p:sp>
        <p:nvSpPr>
          <p:cNvPr id="11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C3FDD30C-7CB4-4C9D-B667-C2A3385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Use the first pilot to map one workflow and the systems it touches.</a:t>
            </a:r>
          </a:p>
        </p:txBody>
      </p:sp>
      <p:sp>
        <p:nvSpPr>
          <p:cNvPr id="12" name="close-portal-frame">
            <a:extLst xmlns:a="http://schemas.openxmlformats.org/drawingml/2006/main">
              <a:ext uri="{FF2B5EF4-FFF2-40B4-BE49-F238E27FC236}">
                <a16:creationId xmlns:a16="http://schemas.microsoft.com/office/drawing/2014/main" id="{74FDFB1A-5B6F-457C-963F-4F61EF2C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41719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02C41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close-portal-title">
            <a:extLst xmlns:a="http://schemas.openxmlformats.org/drawingml/2006/main">
              <a:ext uri="{FF2B5EF4-FFF2-40B4-BE49-F238E27FC236}">
                <a16:creationId xmlns:a16="http://schemas.microsoft.com/office/drawing/2014/main" id="{078F6D7B-6FA9-4ABE-9910-53F96DEA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14" name="close-portal-rule">
            <a:extLst xmlns:a="http://schemas.openxmlformats.org/drawingml/2006/main">
              <a:ext uri="{FF2B5EF4-FFF2-40B4-BE49-F238E27FC236}">
                <a16:creationId xmlns:a16="http://schemas.microsoft.com/office/drawing/2014/main" id="{39CBA7A4-D04E-4957-B7B8-C1ACA397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5" name="close-portal-dot-0">
            <a:extLst xmlns:a="http://schemas.openxmlformats.org/drawingml/2006/main">
              <a:ext uri="{FF2B5EF4-FFF2-40B4-BE49-F238E27FC236}">
                <a16:creationId xmlns:a16="http://schemas.microsoft.com/office/drawing/2014/main" id="{B6FEC65D-9104-4F7F-8F04-298ED59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portal-row-label-0">
            <a:extLst xmlns:a="http://schemas.openxmlformats.org/drawingml/2006/main">
              <a:ext uri="{FF2B5EF4-FFF2-40B4-BE49-F238E27FC236}">
                <a16:creationId xmlns:a16="http://schemas.microsoft.com/office/drawing/2014/main" id="{D596666A-D5E3-4BDC-8FD8-A9E3A7B9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17" name="close-portal-row-body-0">
            <a:extLst xmlns:a="http://schemas.openxmlformats.org/drawingml/2006/main">
              <a:ext uri="{FF2B5EF4-FFF2-40B4-BE49-F238E27FC236}">
                <a16:creationId xmlns:a16="http://schemas.microsoft.com/office/drawing/2014/main" id="{89487D91-37C5-4BBA-B3CA-4CA33344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Edit offers and intake fields</a:t>
            </a:r>
          </a:p>
        </p:txBody>
      </p:sp>
      <p:sp>
        <p:nvSpPr>
          <p:cNvPr id="18" name="close-portal-row-rule-0">
            <a:extLst xmlns:a="http://schemas.openxmlformats.org/drawingml/2006/main">
              <a:ext uri="{FF2B5EF4-FFF2-40B4-BE49-F238E27FC236}">
                <a16:creationId xmlns:a16="http://schemas.microsoft.com/office/drawing/2014/main" id="{CB4DD395-71A3-4B78-8A89-F43117B0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19" name="close-portal-dot-1">
            <a:extLst xmlns:a="http://schemas.openxmlformats.org/drawingml/2006/main">
              <a:ext uri="{FF2B5EF4-FFF2-40B4-BE49-F238E27FC236}">
                <a16:creationId xmlns:a16="http://schemas.microsoft.com/office/drawing/2014/main" id="{7A35D2EA-E0DC-425D-9946-F3FD62F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portal-row-label-1">
            <a:extLst xmlns:a="http://schemas.openxmlformats.org/drawingml/2006/main">
              <a:ext uri="{FF2B5EF4-FFF2-40B4-BE49-F238E27FC236}">
                <a16:creationId xmlns:a16="http://schemas.microsoft.com/office/drawing/2014/main" id="{F961CE9E-9F8A-4FF1-982D-CEBD1086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21" name="close-portal-row-body-1">
            <a:extLst xmlns:a="http://schemas.openxmlformats.org/drawingml/2006/main">
              <a:ext uri="{FF2B5EF4-FFF2-40B4-BE49-F238E27FC236}">
                <a16:creationId xmlns:a16="http://schemas.microsoft.com/office/drawing/2014/main" id="{C08610FE-61FF-4163-A30C-8B7DB65F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76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Manage availability and bookings</a:t>
            </a:r>
          </a:p>
        </p:txBody>
      </p:sp>
      <p:sp>
        <p:nvSpPr>
          <p:cNvPr id="22" name="close-portal-row-rule-1">
            <a:extLst xmlns:a="http://schemas.openxmlformats.org/drawingml/2006/main">
              <a:ext uri="{FF2B5EF4-FFF2-40B4-BE49-F238E27FC236}">
                <a16:creationId xmlns:a16="http://schemas.microsoft.com/office/drawing/2014/main" id="{6670BF2B-5629-48C5-94E5-634621F2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3" name="close-portal-dot-2">
            <a:extLst xmlns:a="http://schemas.openxmlformats.org/drawingml/2006/main">
              <a:ext uri="{FF2B5EF4-FFF2-40B4-BE49-F238E27FC236}">
                <a16:creationId xmlns:a16="http://schemas.microsoft.com/office/drawing/2014/main" id="{E8E17A12-0856-492E-813D-EE8056DD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e-portal-row-label-2">
            <a:extLst xmlns:a="http://schemas.openxmlformats.org/drawingml/2006/main">
              <a:ext uri="{FF2B5EF4-FFF2-40B4-BE49-F238E27FC236}">
                <a16:creationId xmlns:a16="http://schemas.microsoft.com/office/drawing/2014/main" id="{FD5B183B-770A-4F13-B730-4AD5FDCD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 review</a:t>
            </a:r>
          </a:p>
        </p:txBody>
      </p:sp>
      <p:sp>
        <p:nvSpPr>
          <p:cNvPr id="25" name="close-portal-row-body-2">
            <a:extLst xmlns:a="http://schemas.openxmlformats.org/drawingml/2006/main">
              <a:ext uri="{FF2B5EF4-FFF2-40B4-BE49-F238E27FC236}">
                <a16:creationId xmlns:a16="http://schemas.microsoft.com/office/drawing/2014/main" id="{6A1F2837-FBB5-4A21-BD7C-41D8E585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See summaries and full call context</a:t>
            </a:r>
          </a:p>
        </p:txBody>
      </p:sp>
      <p:sp>
        <p:nvSpPr>
          <p:cNvPr id="26" name="close-portal-row-rule-2">
            <a:extLst xmlns:a="http://schemas.openxmlformats.org/drawingml/2006/main">
              <a:ext uri="{FF2B5EF4-FFF2-40B4-BE49-F238E27FC236}">
                <a16:creationId xmlns:a16="http://schemas.microsoft.com/office/drawing/2014/main" id="{ED9F098D-DC00-44E5-9FF5-1437534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7" name="close-portal-dot-3">
            <a:extLst xmlns:a="http://schemas.openxmlformats.org/drawingml/2006/main">
              <a:ext uri="{FF2B5EF4-FFF2-40B4-BE49-F238E27FC236}">
                <a16:creationId xmlns:a16="http://schemas.microsoft.com/office/drawing/2014/main" id="{84548480-E3C5-4955-AB17-2BE82E96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e-portal-row-label-3">
            <a:extLst xmlns:a="http://schemas.openxmlformats.org/drawingml/2006/main">
              <a:ext uri="{FF2B5EF4-FFF2-40B4-BE49-F238E27FC236}">
                <a16:creationId xmlns:a16="http://schemas.microsoft.com/office/drawing/2014/main" id="{B0A46FCC-ABBE-4354-9E27-A99BD31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queue</a:t>
            </a:r>
          </a:p>
        </p:txBody>
      </p:sp>
      <p:sp>
        <p:nvSpPr>
          <p:cNvPr id="29" name="close-portal-row-body-3">
            <a:extLst xmlns:a="http://schemas.openxmlformats.org/drawingml/2006/main">
              <a:ext uri="{FF2B5EF4-FFF2-40B4-BE49-F238E27FC236}">
                <a16:creationId xmlns:a16="http://schemas.microsoft.com/office/drawing/2014/main" id="{EB03ED1C-B171-47BF-9D01-A21AC48C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Surface exceptions for staff</a:t>
            </a:r>
          </a:p>
        </p:txBody>
      </p:sp>
      <p:sp>
        <p:nvSpPr>
          <p:cNvPr id="30" name="close-contact-placeholder">
            <a:extLst xmlns:a="http://schemas.openxmlformats.org/drawingml/2006/main">
              <a:ext uri="{FF2B5EF4-FFF2-40B4-BE49-F238E27FC236}">
                <a16:creationId xmlns:a16="http://schemas.microsoft.com/office/drawing/2014/main" id="{A55CB526-D2DB-402C-9E94-72601299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CONTACT / DEMO</a:t>
            </a:r>
          </a:p>
        </p:txBody>
      </p:sp>
      <p:sp>
        <p:nvSpPr>
          <p:cNvPr id="3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428EE460-D762-4813-A262-9C291F4D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3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7F6330F2-5CE7-4911-8C88-FDC14814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8DA328F-0C04-4D18-9255-0697BA42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3588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2026-10-05T20:54:16.1500000Z</dcterms:created>
  <dcterms:modified xsi:type="dcterms:W3CDTF">2026-10-05T20:54:16.1500000Z</dcterms:modified>
</coreProperties>
</file>