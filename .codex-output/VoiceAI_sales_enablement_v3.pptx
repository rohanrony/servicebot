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b4b0dbbefc43a0" /><Relationship Type="http://schemas.openxmlformats.org/officeDocument/2006/relationships/extended-properties" Target="/docProps/app.xml" Id="R65c6d2844e464f77" /><Relationship Type="http://schemas.openxmlformats.org/officeDocument/2006/relationships/officeDocument" Target="/ppt/presentation.xml" Id="Rc96b5c902cab4c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f309835bd54088"/>
  </p:sldMasterIdLst>
  <p:notesMasterIdLst>
    <p:notesMasterId xmlns:r="http://schemas.openxmlformats.org/officeDocument/2006/relationships" r:id="Re534e8e7037d47bd"/>
  </p:notesMasterIdLst>
  <p:sldIdLst>
    <p:sldId xmlns:r="http://schemas.openxmlformats.org/officeDocument/2006/relationships" id="256" r:id="R2386c9e2b17141d3"/>
    <p:sldId xmlns:r="http://schemas.openxmlformats.org/officeDocument/2006/relationships" id="257" r:id="Rd48ea5725d934ed2"/>
    <p:sldId xmlns:r="http://schemas.openxmlformats.org/officeDocument/2006/relationships" id="258" r:id="R7ea3ca8136f24bf1"/>
    <p:sldId xmlns:r="http://schemas.openxmlformats.org/officeDocument/2006/relationships" id="259" r:id="Rafee27cc576c4136"/>
    <p:sldId xmlns:r="http://schemas.openxmlformats.org/officeDocument/2006/relationships" id="260" r:id="R12313c58f0a442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7117b6f20c452d" /><Relationship Type="http://schemas.openxmlformats.org/officeDocument/2006/relationships/slideMaster" Target="/ppt/slideMasters/slideMaster1.xml" Id="Radf309835bd54088" /><Relationship Type="http://schemas.openxmlformats.org/officeDocument/2006/relationships/notesMaster" Target="/ppt/notesMasters/notesMaster1.xml" Id="Re534e8e7037d47bd" /><Relationship Type="http://schemas.openxmlformats.org/officeDocument/2006/relationships/presProps" Target="/ppt/presProps.xml" Id="Rff9eee7bd67b4d04" /><Relationship Type="http://schemas.openxmlformats.org/officeDocument/2006/relationships/tableStyles" Target="/ppt/tableStyles.xml" Id="R9d549704fd3e4e00" /><Relationship Type="http://schemas.openxmlformats.org/officeDocument/2006/relationships/slide" Target="/ppt/slides/slide1.xml" Id="R2386c9e2b17141d3" /><Relationship Type="http://schemas.openxmlformats.org/officeDocument/2006/relationships/slide" Target="/ppt/slides/slide2.xml" Id="Rd48ea5725d934ed2" /><Relationship Type="http://schemas.openxmlformats.org/officeDocument/2006/relationships/slide" Target="/ppt/slides/slide3.xml" Id="R7ea3ca8136f24bf1" /><Relationship Type="http://schemas.openxmlformats.org/officeDocument/2006/relationships/slide" Target="/ppt/slides/slide4.xml" Id="Rafee27cc576c4136" /><Relationship Type="http://schemas.openxmlformats.org/officeDocument/2006/relationships/slide" Target="/ppt/slides/slide5.xml" Id="R12313c58f0a442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bd7465367846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674547b01d4133" /><Relationship Type="http://schemas.openxmlformats.org/officeDocument/2006/relationships/notesMaster" Target="/ppt/notesMasters/notesMaster1.xml" Id="R12a06464e00d49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14fd7bb63a4236" /><Relationship Type="http://schemas.openxmlformats.org/officeDocument/2006/relationships/notesMaster" Target="/ppt/notesMasters/notesMaster1.xml" Id="Rbf7ac5fb20bf4c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fd467967c14236" /><Relationship Type="http://schemas.openxmlformats.org/officeDocument/2006/relationships/notesMaster" Target="/ppt/notesMasters/notesMaster1.xml" Id="R39f4a9e0b00e4d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1995dd2b1341a4" /><Relationship Type="http://schemas.openxmlformats.org/officeDocument/2006/relationships/notesMaster" Target="/ppt/notesMasters/notesMaster1.xml" Id="R65b2643a77464b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2f836c5b064fe2" /><Relationship Type="http://schemas.openxmlformats.org/officeDocument/2006/relationships/notesMaster" Target="/ppt/notesMasters/notesMaster1.xml" Id="R68fd8113ba424f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notes: Product positioning and capabilities synthesized from README.md, docs/PRD.md, and docs/RELEASE_NOTE_v0.1.md. Cover artwork generated for this deck and contains no external brand or factual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notes: Problem framing is a concise synthesis of the problem statement and value proposition in docs/PRD.md. No performance metrics are claimed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notes: Workflow based on serviceBot/graph/state.py, serviceBot/graph/routing.py, serviceBot/graph/nodes.py, and the capabilities documented in README.md and docs/RELEASE_NOTE_v0.1.md.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notes: Integrations and portal capabilities based on serviceBot/services/calendar_availability.py, serviceBot/services/google_calendar.py, serviceBot/services/rag.py, serviceBot/services/gmail.py, serviceBot/services/twilio_sms.py, serviceBot/static/index.html, and docs/RELEASE_NOTE_v0.1.md.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notes: Closing workflow and portal capabilities based on docs/PRD.md, README.md, serviceBot/static/index.html, and docs/RELEASE_NOTE_v0.1.md. Copy intentionally avoids unsupported ROI or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4d04597034f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1456bf7e094dc0" /><Relationship Type="http://schemas.openxmlformats.org/officeDocument/2006/relationships/slideLayout" Target="/ppt/slideLayouts/slideLayout1.xml" Id="R73a81b11343543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a81b11343543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7805de2cb44a1" /><Relationship Type="http://schemas.openxmlformats.org/officeDocument/2006/relationships/image" Target="/ppt/media/image.png" Id="Raf19a0f2a835443b" /><Relationship Type="http://schemas.openxmlformats.org/officeDocument/2006/relationships/notesSlide" Target="/ppt/notesSlides/notesSlide1.xml" Id="Rc282a12b85c34d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6e80e56fb4bee" /><Relationship Type="http://schemas.openxmlformats.org/officeDocument/2006/relationships/notesSlide" Target="/ppt/notesSlides/notesSlide2.xml" Id="R06d779a1d0f447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7fa8092bf43b4" /><Relationship Type="http://schemas.openxmlformats.org/officeDocument/2006/relationships/notesSlide" Target="/ppt/notesSlides/notesSlide3.xml" Id="Rb48cf9f616be40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ad3c6c34e4a9d" /><Relationship Type="http://schemas.openxmlformats.org/officeDocument/2006/relationships/notesSlide" Target="/ppt/notesSlides/notesSlide4.xml" Id="R782618368d844e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0210a325d44d6" /><Relationship Type="http://schemas.openxmlformats.org/officeDocument/2006/relationships/notesSlide" Target="/ppt/notesSlides/notesSlide5.xml" Id="Rd33b0ac34b2542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19a0f2a835443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left-scrim">
            <a:extLst xmlns:a="http://schemas.openxmlformats.org/drawingml/2006/main">
              <a:ext uri="{FF2B5EF4-FFF2-40B4-BE49-F238E27FC236}">
                <a16:creationId xmlns:a16="http://schemas.microsoft.com/office/drawing/2014/main" id="{F14BCE6E-C38A-45CD-A395-A044DB1F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brand">
            <a:extLst xmlns:a="http://schemas.openxmlformats.org/drawingml/2006/main">
              <a:ext uri="{FF2B5EF4-FFF2-40B4-BE49-F238E27FC236}">
                <a16:creationId xmlns:a16="http://schemas.microsoft.com/office/drawing/2014/main" id="{23E360B0-439D-42BB-A318-B272D852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6954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334A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4" name="cover-brand-text">
            <a:extLst xmlns:a="http://schemas.openxmlformats.org/drawingml/2006/main">
              <a:ext uri="{FF2B5EF4-FFF2-40B4-BE49-F238E27FC236}">
                <a16:creationId xmlns:a16="http://schemas.microsoft.com/office/drawing/2014/main" id="{0C14AEEE-88D5-4AAC-B173-155A53E7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2862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YOUR BRAND</a:t>
            </a:r>
          </a:p>
        </p:txBody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F48AC1D1-A074-40C0-B117-37A52AA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SALES PRESENTATION</a:t>
            </a:r>
          </a:p>
        </p:txBody>
      </p:sp>
      <p:sp>
        <p:nvSpPr>
          <p:cNvPr id="6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2EF10C15-968D-445B-A073-0690F7EF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239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FE1D2"/>
            </a:solidFill>
            <a:prstDash val="solid"/>
          </a:ln>
        </p:spPr>
      </p:sp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8909FE3-31E1-40AF-AB37-9434575E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533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VoiceAI</a:t>
            </a:r>
          </a:p>
        </p:txBody>
      </p:sp>
      <p:sp>
        <p:nvSpPr>
          <p:cNvPr id="8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F1B5EF7-3B0E-48BD-9EF9-43E80C42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Conversational inbound call handling for service businesses.</a:t>
            </a:r>
          </a:p>
        </p:txBody>
      </p:sp>
      <p:sp>
        <p:nvSpPr>
          <p:cNvPr id="9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C220CBA4-9D87-4382-AE94-BB2E4953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4524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9CB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B9CBD3"/>
                </a:solidFill>
                <a:latin typeface="Helvetica Neue"/>
                <a:ea typeface="Helvetica Neue"/>
                <a:cs typeface="Helvetica Neue"/>
              </a:rPr>
              <a:t>One voice conversation can capture the request, answer questions, and start the next operational step.</a:t>
            </a:r>
          </a:p>
        </p:txBody>
      </p:sp>
      <p:sp>
        <p:nvSpPr>
          <p:cNvPr id="10" name="cover-footer-label">
            <a:extLst xmlns:a="http://schemas.openxmlformats.org/drawingml/2006/main">
              <a:ext uri="{FF2B5EF4-FFF2-40B4-BE49-F238E27FC236}">
                <a16:creationId xmlns:a16="http://schemas.microsoft.com/office/drawing/2014/main" id="{E9B89B89-BC3E-41B5-B3EF-0CDE4441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86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rPr>
              <a:t>PRODUCT OVERVIEW</a:t>
            </a:r>
          </a:p>
        </p:txBody>
      </p:sp>
    </p:spTree>
    <p:extLst>
      <p:ext uri="{BB962C8B-B14F-4D97-AF65-F5344CB8AC3E}">
        <p14:creationId xmlns:p14="http://schemas.microsoft.com/office/powerpoint/2010/main" val="15962500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problem-brand">
            <a:extLst xmlns:a="http://schemas.openxmlformats.org/drawingml/2006/main">
              <a:ext uri="{FF2B5EF4-FFF2-40B4-BE49-F238E27FC236}">
                <a16:creationId xmlns:a16="http://schemas.microsoft.com/office/drawing/2014/main" id="{867EF03C-A21A-48F6-8CBC-B142166D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4800"/>
            <a:ext cx="16954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1"/>
          </a:solidFill>
          <a:ln xmlns:a="http://schemas.openxmlformats.org/drawingml/2006/main" w="9525">
            <a:solidFill>
              <a:srgbClr val="A8C9C6"/>
            </a:solidFill>
            <a:prstDash val="solid"/>
          </a:ln>
        </p:spPr>
      </p:sp>
      <p:sp>
        <p:nvSpPr>
          <p:cNvPr id="2" name="problem-brand-text">
            <a:extLst xmlns:a="http://schemas.openxmlformats.org/drawingml/2006/main">
              <a:ext uri="{FF2B5EF4-FFF2-40B4-BE49-F238E27FC236}">
                <a16:creationId xmlns:a16="http://schemas.microsoft.com/office/drawing/2014/main" id="{98693B25-A80E-4FFE-A83A-BFF9AA75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957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YOUR BRAND</a:t>
            </a:r>
          </a:p>
        </p:txBody>
      </p:sp>
      <p:sp>
        <p:nvSpPr>
          <p:cNvPr id="3" name="kicker-The phone is where service demand begins">
            <a:extLst xmlns:a="http://schemas.openxmlformats.org/drawingml/2006/main">
              <a:ext uri="{FF2B5EF4-FFF2-40B4-BE49-F238E27FC236}">
                <a16:creationId xmlns:a16="http://schemas.microsoft.com/office/drawing/2014/main" id="{8354A755-0C04-4B0D-899B-77FE8542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THE BUSINESS PROBLEM</a:t>
            </a:r>
          </a:p>
        </p:txBody>
      </p:sp>
      <p:sp>
        <p:nvSpPr>
          <p:cNvPr id="4" name="title-The phone is where service demand begins">
            <a:extLst xmlns:a="http://schemas.openxmlformats.org/drawingml/2006/main">
              <a:ext uri="{FF2B5EF4-FFF2-40B4-BE49-F238E27FC236}">
                <a16:creationId xmlns:a16="http://schemas.microsoft.com/office/drawing/2014/main" id="{240CDC0C-5F42-4C16-828C-8852BB0D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The phone is where service demand begins</a:t>
            </a:r>
          </a:p>
        </p:txBody>
      </p:sp>
      <p:sp>
        <p:nvSpPr>
          <p:cNvPr id="5" name="subtitle-The phone is where service demand begins">
            <a:extLst xmlns:a="http://schemas.openxmlformats.org/drawingml/2006/main">
              <a:ext uri="{FF2B5EF4-FFF2-40B4-BE49-F238E27FC236}">
                <a16:creationId xmlns:a16="http://schemas.microsoft.com/office/drawing/2014/main" id="{54B0CD0E-D145-4DED-9755-4AB6E779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When staff cannot answer, the work does not wait.</a:t>
            </a:r>
          </a:p>
        </p:txBody>
      </p:sp>
      <p:sp>
        <p:nvSpPr>
          <p:cNvPr id="6" name="problem-dot-0">
            <a:extLst xmlns:a="http://schemas.openxmlformats.org/drawingml/2006/main">
              <a:ext uri="{FF2B5EF4-FFF2-40B4-BE49-F238E27FC236}">
                <a16:creationId xmlns:a16="http://schemas.microsoft.com/office/drawing/2014/main" id="{F38DBC8A-A445-4159-A5A1-3B911213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blem-label-0">
            <a:extLst xmlns:a="http://schemas.openxmlformats.org/drawingml/2006/main">
              <a:ext uri="{FF2B5EF4-FFF2-40B4-BE49-F238E27FC236}">
                <a16:creationId xmlns:a16="http://schemas.microsoft.com/office/drawing/2014/main" id="{940E78AA-BB09-461F-BD17-C8C065B8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MISSED CALLS</a:t>
            </a:r>
          </a:p>
        </p:txBody>
      </p:sp>
      <p:sp>
        <p:nvSpPr>
          <p:cNvPr id="8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257FB24D-D86E-4E6B-BFE8-A75F0D50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908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A customer leaves before anyone responds.</a:t>
            </a:r>
          </a:p>
        </p:txBody>
      </p:sp>
      <p:sp>
        <p:nvSpPr>
          <p:cNvPr id="9" name="problem-rule-0">
            <a:extLst xmlns:a="http://schemas.openxmlformats.org/drawingml/2006/main">
              <a:ext uri="{FF2B5EF4-FFF2-40B4-BE49-F238E27FC236}">
                <a16:creationId xmlns:a16="http://schemas.microsoft.com/office/drawing/2014/main" id="{97D9A880-105C-4196-B54B-BAB39D73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62300"/>
            <a:ext cx="440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C"/>
            </a:solidFill>
            <a:prstDash val="solid"/>
          </a:ln>
        </p:spPr>
      </p:sp>
      <p:sp>
        <p:nvSpPr>
          <p:cNvPr id="10" name="problem-dot-1">
            <a:extLst xmlns:a="http://schemas.openxmlformats.org/drawingml/2006/main">
              <a:ext uri="{FF2B5EF4-FFF2-40B4-BE49-F238E27FC236}">
                <a16:creationId xmlns:a16="http://schemas.microsoft.com/office/drawing/2014/main" id="{BA0D9EE0-101D-4A26-B0D4-B26B6DF6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blem-label-1">
            <a:extLst xmlns:a="http://schemas.openxmlformats.org/drawingml/2006/main">
              <a:ext uri="{FF2B5EF4-FFF2-40B4-BE49-F238E27FC236}">
                <a16:creationId xmlns:a16="http://schemas.microsoft.com/office/drawing/2014/main" id="{CCDA79FF-225A-4DE6-A16A-B4AA2EE0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14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REPETITIVE FRONT-DESK WORK</a:t>
            </a:r>
          </a:p>
        </p:txBody>
      </p:sp>
      <p:sp>
        <p:nvSpPr>
          <p:cNvPr id="12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32E1B616-151D-4750-88F6-B047844E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623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Staff re-enter the same details across tools.</a:t>
            </a:r>
          </a:p>
        </p:txBody>
      </p:sp>
      <p:sp>
        <p:nvSpPr>
          <p:cNvPr id="13" name="problem-rule-1">
            <a:extLst xmlns:a="http://schemas.openxmlformats.org/drawingml/2006/main">
              <a:ext uri="{FF2B5EF4-FFF2-40B4-BE49-F238E27FC236}">
                <a16:creationId xmlns:a16="http://schemas.microsoft.com/office/drawing/2014/main" id="{68267875-441F-4CBF-9370-4511CFAA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33850"/>
            <a:ext cx="440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C"/>
            </a:solidFill>
            <a:prstDash val="solid"/>
          </a:ln>
        </p:spPr>
      </p:sp>
      <p:sp>
        <p:nvSpPr>
          <p:cNvPr id="14" name="problem-dot-2">
            <a:extLst xmlns:a="http://schemas.openxmlformats.org/drawingml/2006/main">
              <a:ext uri="{FF2B5EF4-FFF2-40B4-BE49-F238E27FC236}">
                <a16:creationId xmlns:a16="http://schemas.microsoft.com/office/drawing/2014/main" id="{A281C3F7-C1AD-4ED9-99B5-1CAC7C86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oblem-label-2">
            <a:extLst xmlns:a="http://schemas.openxmlformats.org/drawingml/2006/main">
              <a:ext uri="{FF2B5EF4-FFF2-40B4-BE49-F238E27FC236}">
                <a16:creationId xmlns:a16="http://schemas.microsoft.com/office/drawing/2014/main" id="{964B80C0-F656-442E-B6F9-35321445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862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FRAGMENTED FOLLOW-THROUGH</a:t>
            </a:r>
          </a:p>
        </p:txBody>
      </p:sp>
      <p:sp>
        <p:nvSpPr>
          <p:cNvPr id="16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735D104E-5529-45A8-935E-D24FEE73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33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Bookings, reminders, and handoffs depend on manual coordination.</a:t>
            </a:r>
          </a:p>
        </p:txBody>
      </p:sp>
      <p:sp>
        <p:nvSpPr>
          <p:cNvPr id="17" name="problem-before-label">
            <a:extLst xmlns:a="http://schemas.openxmlformats.org/drawingml/2006/main">
              <a:ext uri="{FF2B5EF4-FFF2-40B4-BE49-F238E27FC236}">
                <a16:creationId xmlns:a16="http://schemas.microsoft.com/office/drawing/2014/main" id="{069DD249-1622-43BC-9FF6-874F6BA6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WHEN THE TEAM IS BUSY</a:t>
            </a:r>
          </a:p>
        </p:txBody>
      </p:sp>
      <p:sp>
        <p:nvSpPr>
          <p:cNvPr id="18" name="problem-before-call">
            <a:extLst xmlns:a="http://schemas.openxmlformats.org/drawingml/2006/main">
              <a:ext uri="{FF2B5EF4-FFF2-40B4-BE49-F238E27FC236}">
                <a16:creationId xmlns:a16="http://schemas.microsoft.com/office/drawing/2014/main" id="{DF2249E3-8F9A-468B-A728-77385BE3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432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F39D84"/>
            </a:solidFill>
            <a:prstDash val="solid"/>
          </a:ln>
        </p:spPr>
      </p:sp>
      <p:sp>
        <p:nvSpPr>
          <p:cNvPr id="19" name="problem-before-call-text">
            <a:extLst xmlns:a="http://schemas.openxmlformats.org/drawingml/2006/main">
              <a:ext uri="{FF2B5EF4-FFF2-40B4-BE49-F238E27FC236}">
                <a16:creationId xmlns:a16="http://schemas.microsoft.com/office/drawing/2014/main" id="{A519F55F-2367-4675-B248-6EF720AB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337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CALL</a:t>
            </a:r>
          </a:p>
        </p:txBody>
      </p:sp>
      <p:sp>
        <p:nvSpPr>
          <p:cNvPr id="20" name="problem-voicemail">
            <a:extLst xmlns:a="http://schemas.openxmlformats.org/drawingml/2006/main">
              <a:ext uri="{FF2B5EF4-FFF2-40B4-BE49-F238E27FC236}">
                <a16:creationId xmlns:a16="http://schemas.microsoft.com/office/drawing/2014/main" id="{BBFFAB2A-E9D3-4634-B13E-E4C8192C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81300"/>
            <a:ext cx="1524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8EE"/>
          </a:solidFill>
          <a:ln xmlns:a="http://schemas.openxmlformats.org/drawingml/2006/main" w="9525">
            <a:solidFill>
              <a:srgbClr val="F2C37B"/>
            </a:solidFill>
            <a:prstDash val="solid"/>
          </a:ln>
        </p:spPr>
      </p:sp>
      <p:sp>
        <p:nvSpPr>
          <p:cNvPr id="21" name="problem-voicemail-text">
            <a:extLst xmlns:a="http://schemas.openxmlformats.org/drawingml/2006/main">
              <a:ext uri="{FF2B5EF4-FFF2-40B4-BE49-F238E27FC236}">
                <a16:creationId xmlns:a16="http://schemas.microsoft.com/office/drawing/2014/main" id="{1E48FE97-BB68-48A7-A80B-057713A3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4322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Voicemail or repeat call</a:t>
            </a:r>
          </a:p>
        </p:txBody>
      </p:sp>
      <p:cxnSp>
        <p:nvCxnSpPr>
          <p:cNvPr id="57" name=""/>
          <p:cNvCxnSpPr>
            <a:stCxn xmlns:a="http://schemas.openxmlformats.org/drawingml/2006/main" id="18" idx="6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448550" y="30384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39D84"/>
            </a:solidFill>
            <a:prstDash val="solid"/>
            <a:headEnd type="arrow" w="sm" len="sm"/>
          </a:ln>
        </p:spPr>
      </p:cxnSp>
      <p:sp>
        <p:nvSpPr>
          <p:cNvPr id="23" name="problem-after-label">
            <a:extLst xmlns:a="http://schemas.openxmlformats.org/drawingml/2006/main">
              <a:ext uri="{FF2B5EF4-FFF2-40B4-BE49-F238E27FC236}">
                <a16:creationId xmlns:a16="http://schemas.microsoft.com/office/drawing/2014/main" id="{2210FD57-B990-4D59-B0B0-0B32F283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29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WITH VOICEAI</a:t>
            </a:r>
          </a:p>
        </p:txBody>
      </p:sp>
      <p:sp>
        <p:nvSpPr>
          <p:cNvPr id="24" name="problem-after-call">
            <a:extLst xmlns:a="http://schemas.openxmlformats.org/drawingml/2006/main">
              <a:ext uri="{FF2B5EF4-FFF2-40B4-BE49-F238E27FC236}">
                <a16:creationId xmlns:a16="http://schemas.microsoft.com/office/drawing/2014/main" id="{367D67C6-4DB7-45A9-A0F8-7BC26006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053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BF7"/>
          </a:solidFill>
          <a:ln xmlns:a="http://schemas.openxmlformats.org/drawingml/2006/main" w="9525">
            <a:solidFill>
              <a:srgbClr val="0E766E"/>
            </a:solidFill>
            <a:prstDash val="solid"/>
          </a:ln>
        </p:spPr>
      </p:sp>
      <p:sp>
        <p:nvSpPr>
          <p:cNvPr id="25" name="problem-after-call-text">
            <a:extLst xmlns:a="http://schemas.openxmlformats.org/drawingml/2006/main">
              <a:ext uri="{FF2B5EF4-FFF2-40B4-BE49-F238E27FC236}">
                <a16:creationId xmlns:a16="http://schemas.microsoft.com/office/drawing/2014/main" id="{79AA7F90-8937-491D-A4A0-6C9B96CC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958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CALL</a:t>
            </a:r>
          </a:p>
        </p:txBody>
      </p:sp>
      <p:sp>
        <p:nvSpPr>
          <p:cNvPr id="26" name="problem-conversation">
            <a:extLst xmlns:a="http://schemas.openxmlformats.org/drawingml/2006/main">
              <a:ext uri="{FF2B5EF4-FFF2-40B4-BE49-F238E27FC236}">
                <a16:creationId xmlns:a16="http://schemas.microsoft.com/office/drawing/2014/main" id="{122A5D2A-490C-4D69-A87D-D67E35DD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43400"/>
            <a:ext cx="12573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BF7"/>
          </a:solidFill>
          <a:ln xmlns:a="http://schemas.openxmlformats.org/drawingml/2006/main" w="9525">
            <a:solidFill>
              <a:srgbClr val="0E766E"/>
            </a:solidFill>
            <a:prstDash val="solid"/>
          </a:ln>
        </p:spPr>
      </p:sp>
      <p:sp>
        <p:nvSpPr>
          <p:cNvPr id="27" name="problem-conversation-text">
            <a:extLst xmlns:a="http://schemas.openxmlformats.org/drawingml/2006/main">
              <a:ext uri="{FF2B5EF4-FFF2-40B4-BE49-F238E27FC236}">
                <a16:creationId xmlns:a16="http://schemas.microsoft.com/office/drawing/2014/main" id="{D6089367-DA42-40FE-AEAB-E3932141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Useful conversation</a:t>
            </a:r>
          </a:p>
        </p:txBody>
      </p:sp>
      <p:sp>
        <p:nvSpPr>
          <p:cNvPr id="28" name="problem-next-step">
            <a:extLst xmlns:a="http://schemas.openxmlformats.org/drawingml/2006/main">
              <a:ext uri="{FF2B5EF4-FFF2-40B4-BE49-F238E27FC236}">
                <a16:creationId xmlns:a16="http://schemas.microsoft.com/office/drawing/2014/main" id="{E4BDB8C8-BC19-4F14-9F22-80BD597B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43400"/>
            <a:ext cx="1695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D2B42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29" name="problem-next-step-text">
            <a:extLst xmlns:a="http://schemas.openxmlformats.org/drawingml/2006/main">
              <a:ext uri="{FF2B5EF4-FFF2-40B4-BE49-F238E27FC236}">
                <a16:creationId xmlns:a16="http://schemas.microsoft.com/office/drawing/2014/main" id="{79E6E244-3063-4A84-B33E-219EDA2F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5053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Clear next step</a:t>
            </a:r>
          </a:p>
        </p:txBody>
      </p:sp>
      <p:cxnSp>
        <p:nvCxnSpPr>
          <p:cNvPr id="65" name=""/>
          <p:cNvCxnSpPr>
            <a:stCxn xmlns:a="http://schemas.openxmlformats.org/drawingml/2006/main" id="24" idx="6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7448550" y="46005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766E"/>
            </a:solidFill>
            <a:prstDash val="solid"/>
            <a:headEnd type="arrow" w="sm" len="sm"/>
          </a:ln>
        </p:spPr>
      </p:cxnSp>
      <p:cxnSp>
        <p:nvCxnSpPr>
          <p:cNvPr id="66" name=""/>
          <p:cNvCxnSpPr>
            <a:stCxn xmlns:a="http://schemas.openxmlformats.org/drawingml/2006/main" id="26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124950" y="46005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766E"/>
            </a:solidFill>
            <a:prstDash val="solid"/>
            <a:headEnd type="arrow" w="sm" len="sm"/>
          </a:ln>
        </p:spPr>
      </p:cxnSp>
      <p:sp>
        <p:nvSpPr>
          <p:cNvPr id="32" name="problem-takeaway">
            <a:extLst xmlns:a="http://schemas.openxmlformats.org/drawingml/2006/main">
              <a:ext uri="{FF2B5EF4-FFF2-40B4-BE49-F238E27FC236}">
                <a16:creationId xmlns:a16="http://schemas.microsoft.com/office/drawing/2014/main" id="{136B7C1C-8BE8-42AC-BE35-66419AC7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149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VoiceAI keeps the first conversation useful, even when the team is busy.</a:t>
            </a:r>
          </a:p>
        </p:txBody>
      </p:sp>
      <p:sp>
        <p:nvSpPr>
          <p:cNvPr id="3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F932FEDF-6F8C-4DD7-8725-483C7502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FE2"/>
            </a:solidFill>
            <a:prstDash val="solid"/>
          </a:ln>
        </p:spPr>
      </p:sp>
      <p:sp>
        <p:nvSpPr>
          <p:cNvPr id="34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64F7A777-1ADA-4ECD-80D9-D3293B9C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186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691"/>
                </a:solidFill>
                <a:latin typeface="Helvetica Neue"/>
                <a:ea typeface="Helvetica Neue"/>
                <a:cs typeface="Helvetica Neue"/>
              </a:rPr>
              <a:t>VoiceAI</a:t>
            </a:r>
          </a:p>
        </p:txBody>
      </p:sp>
      <p:sp>
        <p:nvSpPr>
          <p:cNvPr id="35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3B312021-3F63-4B2F-8D1C-8A8A5AE1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7186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71869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286935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workflow-brand">
            <a:extLst xmlns:a="http://schemas.openxmlformats.org/drawingml/2006/main">
              <a:ext uri="{FF2B5EF4-FFF2-40B4-BE49-F238E27FC236}">
                <a16:creationId xmlns:a16="http://schemas.microsoft.com/office/drawing/2014/main" id="{778E5000-5088-4B06-A2B6-4B8C7D67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4800"/>
            <a:ext cx="16954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334A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2" name="workflow-brand-text">
            <a:extLst xmlns:a="http://schemas.openxmlformats.org/drawingml/2006/main">
              <a:ext uri="{FF2B5EF4-FFF2-40B4-BE49-F238E27FC236}">
                <a16:creationId xmlns:a16="http://schemas.microsoft.com/office/drawing/2014/main" id="{87EBA25C-9247-4E63-9151-6E180221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957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YOUR BRAND</a:t>
            </a:r>
          </a:p>
        </p:txBody>
      </p:sp>
      <p:sp>
        <p:nvSpPr>
          <p:cNvPr id="3" name="kicker-One conversation, several business actions">
            <a:extLst xmlns:a="http://schemas.openxmlformats.org/drawingml/2006/main">
              <a:ext uri="{FF2B5EF4-FFF2-40B4-BE49-F238E27FC236}">
                <a16:creationId xmlns:a16="http://schemas.microsoft.com/office/drawing/2014/main" id="{9D3C2E4C-E27C-4578-B325-55DBB42B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THE PRODUCT WORKFLOW</a:t>
            </a:r>
          </a:p>
        </p:txBody>
      </p:sp>
      <p:sp>
        <p:nvSpPr>
          <p:cNvPr id="4" name="title-One conversation, several business actions">
            <a:extLst xmlns:a="http://schemas.openxmlformats.org/drawingml/2006/main">
              <a:ext uri="{FF2B5EF4-FFF2-40B4-BE49-F238E27FC236}">
                <a16:creationId xmlns:a16="http://schemas.microsoft.com/office/drawing/2014/main" id="{0EFCAF37-A483-41C0-9B17-565FB8BC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conversation, several business actions</a:t>
            </a:r>
          </a:p>
        </p:txBody>
      </p:sp>
      <p:sp>
        <p:nvSpPr>
          <p:cNvPr id="5" name="subtitle-One conversation, several business actions">
            <a:extLst xmlns:a="http://schemas.openxmlformats.org/drawingml/2006/main">
              <a:ext uri="{FF2B5EF4-FFF2-40B4-BE49-F238E27FC236}">
                <a16:creationId xmlns:a16="http://schemas.microsoft.com/office/drawing/2014/main" id="{F6358132-D070-4AE0-BEA5-B8C7433A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2C6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B2C6CF"/>
                </a:solidFill>
                <a:latin typeface="Helvetica Neue"/>
                <a:ea typeface="Helvetica Neue"/>
                <a:cs typeface="Helvetica Neue"/>
              </a:rPr>
              <a:t>VoiceAI routes the request to the right next step while keeping the caller’s context in one place.</a:t>
            </a:r>
          </a:p>
        </p:txBody>
      </p:sp>
      <p:sp>
        <p:nvSpPr>
          <p:cNvPr id="6" name="workflow-call">
            <a:extLst xmlns:a="http://schemas.openxmlformats.org/drawingml/2006/main">
              <a:ext uri="{FF2B5EF4-FFF2-40B4-BE49-F238E27FC236}">
                <a16:creationId xmlns:a16="http://schemas.microsoft.com/office/drawing/2014/main" id="{3C6D3999-5E36-47CF-9A17-F8A6711E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workflow-call-text">
            <a:extLst xmlns:a="http://schemas.openxmlformats.org/drawingml/2006/main">
              <a:ext uri="{FF2B5EF4-FFF2-40B4-BE49-F238E27FC236}">
                <a16:creationId xmlns:a16="http://schemas.microsoft.com/office/drawing/2014/main" id="{A204975C-3340-4FCB-8DE7-B78F2A62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71827"/>
                </a:solidFill>
                <a:latin typeface="Helvetica Neue"/>
                <a:ea typeface="Helvetica Neue"/>
                <a:cs typeface="Helvetica Neue"/>
              </a:rPr>
              <a:t>INBOUND</a:t>
            </a:r>
          </a:p>
          <a:p xmlns:a="http://schemas.openxmlformats.org/drawingml/2006/main">
            <a:pPr algn="ctr">
              <a:defRPr sz="1050" b="1">
                <a:solidFill>
                  <a:srgbClr val="07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71827"/>
                </a:solidFill>
                <a:latin typeface="Helvetica Neue"/>
                <a:ea typeface="Helvetica Neue"/>
                <a:cs typeface="Helvetica Neue"/>
              </a:rPr>
              <a:t>CALL</a:t>
            </a:r>
          </a:p>
        </p:txBody>
      </p:sp>
      <p:sp>
        <p:nvSpPr>
          <p:cNvPr id="8" name="workflow-router">
            <a:extLst xmlns:a="http://schemas.openxmlformats.org/drawingml/2006/main">
              <a:ext uri="{FF2B5EF4-FFF2-40B4-BE49-F238E27FC236}">
                <a16:creationId xmlns:a16="http://schemas.microsoft.com/office/drawing/2014/main" id="{F611224F-8CB1-4433-9FE7-376EF6AF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38450"/>
            <a:ext cx="1809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53B56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9" name="workflow-router-title">
            <a:extLst xmlns:a="http://schemas.openxmlformats.org/drawingml/2006/main">
              <a:ext uri="{FF2B5EF4-FFF2-40B4-BE49-F238E27FC236}">
                <a16:creationId xmlns:a16="http://schemas.microsoft.com/office/drawing/2014/main" id="{16AA9F78-5E9B-46FF-BEE0-AAF9C074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670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INTENT ROUTING</a:t>
            </a:r>
          </a:p>
        </p:txBody>
      </p:sp>
      <p:sp>
        <p:nvSpPr>
          <p:cNvPr id="10" name="workflow-router-body">
            <a:extLst xmlns:a="http://schemas.openxmlformats.org/drawingml/2006/main">
              <a:ext uri="{FF2B5EF4-FFF2-40B4-BE49-F238E27FC236}">
                <a16:creationId xmlns:a16="http://schemas.microsoft.com/office/drawing/2014/main" id="{9B6287AE-A9AD-4306-81EA-5873B866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9090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C4D6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C4D6DD"/>
                </a:solidFill>
                <a:latin typeface="Helvetica Neue"/>
                <a:ea typeface="Helvetica Neue"/>
                <a:cs typeface="Helvetica Neue"/>
              </a:rPr>
              <a:t>Caller history + request context</a:t>
            </a:r>
          </a:p>
        </p:txBody>
      </p:sp>
      <p:sp>
        <p:nvSpPr>
          <p:cNvPr id="11" name="workflow-call-line">
            <a:extLst xmlns:a="http://schemas.openxmlformats.org/drawingml/2006/main">
              <a:ext uri="{FF2B5EF4-FFF2-40B4-BE49-F238E27FC236}">
                <a16:creationId xmlns:a16="http://schemas.microsoft.com/office/drawing/2014/main" id="{B4F6903E-F837-4619-8C98-240E814D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909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FE1D2"/>
            </a:solidFill>
            <a:prstDash val="solid"/>
          </a:ln>
        </p:spPr>
      </p:sp>
      <p:sp>
        <p:nvSpPr>
          <p:cNvPr id="12" name="workflow-destination-0">
            <a:extLst xmlns:a="http://schemas.openxmlformats.org/drawingml/2006/main">
              <a:ext uri="{FF2B5EF4-FFF2-40B4-BE49-F238E27FC236}">
                <a16:creationId xmlns:a16="http://schemas.microsoft.com/office/drawing/2014/main" id="{5A8C5F93-8EA3-4535-B919-60C0ABC1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336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83B"/>
          </a:solidFill>
          <a:ln xmlns:a="http://schemas.openxmlformats.org/drawingml/2006/main" w="9525">
            <a:solidFill>
              <a:srgbClr val="31566C"/>
            </a:solidFill>
            <a:prstDash val="solid"/>
          </a:ln>
        </p:spPr>
      </p:sp>
      <p:sp>
        <p:nvSpPr>
          <p:cNvPr id="13" name="workflow-dot-0">
            <a:extLst xmlns:a="http://schemas.openxmlformats.org/drawingml/2006/main">
              <a:ext uri="{FF2B5EF4-FFF2-40B4-BE49-F238E27FC236}">
                <a16:creationId xmlns:a16="http://schemas.microsoft.com/office/drawing/2014/main" id="{91507779-D1C8-4B12-BFA3-A543DC06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05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orkflow-destination-label-0">
            <a:extLst xmlns:a="http://schemas.openxmlformats.org/drawingml/2006/main">
              <a:ext uri="{FF2B5EF4-FFF2-40B4-BE49-F238E27FC236}">
                <a16:creationId xmlns:a16="http://schemas.microsoft.com/office/drawing/2014/main" id="{8063516C-E680-41D8-9549-3C4431BF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955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SERVICE INTAKE</a:t>
            </a:r>
          </a:p>
        </p:txBody>
      </p:sp>
      <p:sp>
        <p:nvSpPr>
          <p:cNvPr id="15" name="workflow-destination-body-0">
            <a:extLst xmlns:a="http://schemas.openxmlformats.org/drawingml/2006/main">
              <a:ext uri="{FF2B5EF4-FFF2-40B4-BE49-F238E27FC236}">
                <a16:creationId xmlns:a16="http://schemas.microsoft.com/office/drawing/2014/main" id="{4DED0CA5-2BE3-4E20-83C4-3AF81CEC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2890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rPr>
              <a:t>Capture the right details</a:t>
            </a:r>
          </a:p>
        </p:txBody>
      </p:sp>
      <p:sp>
        <p:nvSpPr>
          <p:cNvPr id="16" name="workflow-route-horizontal-0">
            <a:extLst xmlns:a="http://schemas.openxmlformats.org/drawingml/2006/main">
              <a:ext uri="{FF2B5EF4-FFF2-40B4-BE49-F238E27FC236}">
                <a16:creationId xmlns:a16="http://schemas.microsoft.com/office/drawing/2014/main" id="{0C0F8DED-825F-46C5-8419-9852A56A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909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7486"/>
            </a:solidFill>
            <a:prstDash val="solid"/>
          </a:ln>
        </p:spPr>
      </p:sp>
      <p:sp>
        <p:nvSpPr>
          <p:cNvPr id="17" name="workflow-route-vertical-0">
            <a:extLst xmlns:a="http://schemas.openxmlformats.org/drawingml/2006/main">
              <a:ext uri="{FF2B5EF4-FFF2-40B4-BE49-F238E27FC236}">
                <a16:creationId xmlns:a16="http://schemas.microsoft.com/office/drawing/2014/main" id="{A924637A-34AE-4071-BBF4-01789BF7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7486"/>
            </a:solidFill>
            <a:prstDash val="solid"/>
          </a:ln>
        </p:spPr>
      </p:sp>
      <p:sp>
        <p:nvSpPr>
          <p:cNvPr id="18" name="workflow-route-destination-0">
            <a:extLst xmlns:a="http://schemas.openxmlformats.org/drawingml/2006/main">
              <a:ext uri="{FF2B5EF4-FFF2-40B4-BE49-F238E27FC236}">
                <a16:creationId xmlns:a16="http://schemas.microsoft.com/office/drawing/2014/main" id="{7650130D-EFA6-4DF2-B87A-16B0F9FB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7486"/>
            </a:solidFill>
            <a:prstDash val="solid"/>
          </a:ln>
        </p:spPr>
      </p:sp>
      <p:sp>
        <p:nvSpPr>
          <p:cNvPr id="19" name="workflow-destination-1">
            <a:extLst xmlns:a="http://schemas.openxmlformats.org/drawingml/2006/main">
              <a:ext uri="{FF2B5EF4-FFF2-40B4-BE49-F238E27FC236}">
                <a16:creationId xmlns:a16="http://schemas.microsoft.com/office/drawing/2014/main" id="{A3F56B0A-863C-41A0-9651-F229D8D1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53B56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20" name="workflow-dot-1">
            <a:extLst xmlns:a="http://schemas.openxmlformats.org/drawingml/2006/main">
              <a:ext uri="{FF2B5EF4-FFF2-40B4-BE49-F238E27FC236}">
                <a16:creationId xmlns:a16="http://schemas.microsoft.com/office/drawing/2014/main" id="{46B06C3E-953A-4706-BA87-F23977A4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05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orkflow-destination-label-1">
            <a:extLst xmlns:a="http://schemas.openxmlformats.org/drawingml/2006/main">
              <a:ext uri="{FF2B5EF4-FFF2-40B4-BE49-F238E27FC236}">
                <a16:creationId xmlns:a16="http://schemas.microsoft.com/office/drawing/2014/main" id="{B113E82B-A0FC-4ACC-A880-7A736EBE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955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APPOINTMENT BOOKING</a:t>
            </a:r>
          </a:p>
        </p:txBody>
      </p:sp>
      <p:sp>
        <p:nvSpPr>
          <p:cNvPr id="22" name="workflow-destination-body-1">
            <a:extLst xmlns:a="http://schemas.openxmlformats.org/drawingml/2006/main">
              <a:ext uri="{FF2B5EF4-FFF2-40B4-BE49-F238E27FC236}">
                <a16:creationId xmlns:a16="http://schemas.microsoft.com/office/drawing/2014/main" id="{A6E81F0F-CCFF-4A75-9701-79B18F73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2890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rPr>
              <a:t>Check and reserve a slot</a:t>
            </a:r>
          </a:p>
        </p:txBody>
      </p:sp>
      <p:sp>
        <p:nvSpPr>
          <p:cNvPr id="23" name="workflow-route-horizontal-1">
            <a:extLst xmlns:a="http://schemas.openxmlformats.org/drawingml/2006/main">
              <a:ext uri="{FF2B5EF4-FFF2-40B4-BE49-F238E27FC236}">
                <a16:creationId xmlns:a16="http://schemas.microsoft.com/office/drawing/2014/main" id="{C5896B42-965A-4E81-8CBA-FF301544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909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FE1D2"/>
            </a:solidFill>
            <a:prstDash val="solid"/>
          </a:ln>
        </p:spPr>
      </p:sp>
      <p:sp>
        <p:nvSpPr>
          <p:cNvPr id="24" name="workflow-route-vertical-1">
            <a:extLst xmlns:a="http://schemas.openxmlformats.org/drawingml/2006/main">
              <a:ext uri="{FF2B5EF4-FFF2-40B4-BE49-F238E27FC236}">
                <a16:creationId xmlns:a16="http://schemas.microsoft.com/office/drawing/2014/main" id="{7DAAF536-5D8A-4787-85AE-A945F474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67000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FE1D2"/>
            </a:solidFill>
            <a:prstDash val="solid"/>
          </a:ln>
        </p:spPr>
      </p:sp>
      <p:sp>
        <p:nvSpPr>
          <p:cNvPr id="25" name="workflow-route-destination-1">
            <a:extLst xmlns:a="http://schemas.openxmlformats.org/drawingml/2006/main">
              <a:ext uri="{FF2B5EF4-FFF2-40B4-BE49-F238E27FC236}">
                <a16:creationId xmlns:a16="http://schemas.microsoft.com/office/drawing/2014/main" id="{1C89BDF3-3ED2-4C02-8A3D-6CC50A65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670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FE1D2"/>
            </a:solidFill>
            <a:prstDash val="solid"/>
          </a:ln>
        </p:spPr>
      </p:sp>
      <p:sp>
        <p:nvSpPr>
          <p:cNvPr id="26" name="workflow-destination-2">
            <a:extLst xmlns:a="http://schemas.openxmlformats.org/drawingml/2006/main">
              <a:ext uri="{FF2B5EF4-FFF2-40B4-BE49-F238E27FC236}">
                <a16:creationId xmlns:a16="http://schemas.microsoft.com/office/drawing/2014/main" id="{68B69376-D7E9-4FC8-9A43-B842EE7D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148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83B"/>
          </a:solidFill>
          <a:ln xmlns:a="http://schemas.openxmlformats.org/drawingml/2006/main" w="9525">
            <a:solidFill>
              <a:srgbClr val="31566C"/>
            </a:solidFill>
            <a:prstDash val="solid"/>
          </a:ln>
        </p:spPr>
      </p:sp>
      <p:sp>
        <p:nvSpPr>
          <p:cNvPr id="27" name="workflow-dot-2">
            <a:extLst xmlns:a="http://schemas.openxmlformats.org/drawingml/2006/main">
              <a:ext uri="{FF2B5EF4-FFF2-40B4-BE49-F238E27FC236}">
                <a16:creationId xmlns:a16="http://schemas.microsoft.com/office/drawing/2014/main" id="{3397EF8A-DBF8-4600-8464-31DD8656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86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orkflow-destination-label-2">
            <a:extLst xmlns:a="http://schemas.openxmlformats.org/drawingml/2006/main">
              <a:ext uri="{FF2B5EF4-FFF2-40B4-BE49-F238E27FC236}">
                <a16:creationId xmlns:a16="http://schemas.microsoft.com/office/drawing/2014/main" id="{301A1187-C202-4A71-B7C4-D3D8C0F5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2767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FAQ ANSWER</a:t>
            </a:r>
          </a:p>
        </p:txBody>
      </p:sp>
      <p:sp>
        <p:nvSpPr>
          <p:cNvPr id="29" name="workflow-destination-body-2">
            <a:extLst xmlns:a="http://schemas.openxmlformats.org/drawingml/2006/main">
              <a:ext uri="{FF2B5EF4-FFF2-40B4-BE49-F238E27FC236}">
                <a16:creationId xmlns:a16="http://schemas.microsoft.com/office/drawing/2014/main" id="{BCFEE0D3-8200-4DF8-8CF2-F69CC59D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1010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rPr>
              <a:t>Use the business knowledge base</a:t>
            </a:r>
          </a:p>
        </p:txBody>
      </p:sp>
      <p:sp>
        <p:nvSpPr>
          <p:cNvPr id="30" name="workflow-route-horizontal-2">
            <a:extLst xmlns:a="http://schemas.openxmlformats.org/drawingml/2006/main">
              <a:ext uri="{FF2B5EF4-FFF2-40B4-BE49-F238E27FC236}">
                <a16:creationId xmlns:a16="http://schemas.microsoft.com/office/drawing/2014/main" id="{5B5B0AA1-F249-47BF-9638-B8F1CFE8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909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7486"/>
            </a:solidFill>
            <a:prstDash val="solid"/>
          </a:ln>
        </p:spPr>
      </p:sp>
      <p:sp>
        <p:nvSpPr>
          <p:cNvPr id="31" name="workflow-route-vertical-2">
            <a:extLst xmlns:a="http://schemas.openxmlformats.org/drawingml/2006/main">
              <a:ext uri="{FF2B5EF4-FFF2-40B4-BE49-F238E27FC236}">
                <a16:creationId xmlns:a16="http://schemas.microsoft.com/office/drawing/2014/main" id="{B6274718-9C0E-41DB-93C5-615BAC78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9090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7486"/>
            </a:solidFill>
            <a:prstDash val="solid"/>
          </a:ln>
        </p:spPr>
      </p:sp>
      <p:sp>
        <p:nvSpPr>
          <p:cNvPr id="32" name="workflow-route-destination-2">
            <a:extLst xmlns:a="http://schemas.openxmlformats.org/drawingml/2006/main">
              <a:ext uri="{FF2B5EF4-FFF2-40B4-BE49-F238E27FC236}">
                <a16:creationId xmlns:a16="http://schemas.microsoft.com/office/drawing/2014/main" id="{6C45CB77-D074-41FA-AA4F-2FBFB9F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48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7486"/>
            </a:solidFill>
            <a:prstDash val="solid"/>
          </a:ln>
        </p:spPr>
      </p:sp>
      <p:sp>
        <p:nvSpPr>
          <p:cNvPr id="33" name="workflow-destination-3">
            <a:extLst xmlns:a="http://schemas.openxmlformats.org/drawingml/2006/main">
              <a:ext uri="{FF2B5EF4-FFF2-40B4-BE49-F238E27FC236}">
                <a16:creationId xmlns:a16="http://schemas.microsoft.com/office/drawing/2014/main" id="{3CDE43EE-5414-4DC9-83E5-996145E9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148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83B"/>
          </a:solidFill>
          <a:ln xmlns:a="http://schemas.openxmlformats.org/drawingml/2006/main" w="9525">
            <a:solidFill>
              <a:srgbClr val="31566C"/>
            </a:solidFill>
            <a:prstDash val="solid"/>
          </a:ln>
        </p:spPr>
      </p:sp>
      <p:sp>
        <p:nvSpPr>
          <p:cNvPr id="34" name="workflow-dot-3">
            <a:extLst xmlns:a="http://schemas.openxmlformats.org/drawingml/2006/main">
              <a:ext uri="{FF2B5EF4-FFF2-40B4-BE49-F238E27FC236}">
                <a16:creationId xmlns:a16="http://schemas.microsoft.com/office/drawing/2014/main" id="{DCF59239-EB87-4594-BA8F-A1F42B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86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workflow-destination-label-3">
            <a:extLst xmlns:a="http://schemas.openxmlformats.org/drawingml/2006/main">
              <a:ext uri="{FF2B5EF4-FFF2-40B4-BE49-F238E27FC236}">
                <a16:creationId xmlns:a16="http://schemas.microsoft.com/office/drawing/2014/main" id="{DBB8D85A-DF75-4221-A4AC-FD941DEE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767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CALLBACK OR HANDOFF</a:t>
            </a:r>
          </a:p>
        </p:txBody>
      </p:sp>
      <p:sp>
        <p:nvSpPr>
          <p:cNvPr id="36" name="workflow-destination-body-3">
            <a:extLst xmlns:a="http://schemas.openxmlformats.org/drawingml/2006/main">
              <a:ext uri="{FF2B5EF4-FFF2-40B4-BE49-F238E27FC236}">
                <a16:creationId xmlns:a16="http://schemas.microsoft.com/office/drawing/2014/main" id="{6ED56EC7-A517-4A0B-A9C5-BD0094AF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1010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rPr>
              <a:t>Keep the next action clear</a:t>
            </a:r>
          </a:p>
        </p:txBody>
      </p:sp>
      <p:sp>
        <p:nvSpPr>
          <p:cNvPr id="37" name="workflow-route-horizontal-3">
            <a:extLst xmlns:a="http://schemas.openxmlformats.org/drawingml/2006/main">
              <a:ext uri="{FF2B5EF4-FFF2-40B4-BE49-F238E27FC236}">
                <a16:creationId xmlns:a16="http://schemas.microsoft.com/office/drawing/2014/main" id="{21FEBDB8-500A-411C-AAED-05A55CCC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909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7486"/>
            </a:solidFill>
            <a:prstDash val="solid"/>
          </a:ln>
        </p:spPr>
      </p:sp>
      <p:sp>
        <p:nvSpPr>
          <p:cNvPr id="38" name="workflow-route-vertical-3">
            <a:extLst xmlns:a="http://schemas.openxmlformats.org/drawingml/2006/main">
              <a:ext uri="{FF2B5EF4-FFF2-40B4-BE49-F238E27FC236}">
                <a16:creationId xmlns:a16="http://schemas.microsoft.com/office/drawing/2014/main" id="{4B46588E-D60B-478A-986D-8E11252E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9090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7486"/>
            </a:solidFill>
            <a:prstDash val="solid"/>
          </a:ln>
        </p:spPr>
      </p:sp>
      <p:sp>
        <p:nvSpPr>
          <p:cNvPr id="39" name="workflow-route-destination-3">
            <a:extLst xmlns:a="http://schemas.openxmlformats.org/drawingml/2006/main">
              <a:ext uri="{FF2B5EF4-FFF2-40B4-BE49-F238E27FC236}">
                <a16:creationId xmlns:a16="http://schemas.microsoft.com/office/drawing/2014/main" id="{4D1D6E3F-6714-439C-BAA7-7696514A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482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7486"/>
            </a:solidFill>
            <a:prstDash val="solid"/>
          </a:ln>
        </p:spPr>
      </p:sp>
      <p:sp>
        <p:nvSpPr>
          <p:cNvPr id="40" name="workflow-bottom-note">
            <a:extLst xmlns:a="http://schemas.openxmlformats.org/drawingml/2006/main">
              <a:ext uri="{FF2B5EF4-FFF2-40B4-BE49-F238E27FC236}">
                <a16:creationId xmlns:a16="http://schemas.microsoft.com/office/drawing/2014/main" id="{CDA879E5-3ED9-4AC7-8B56-76C3179D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197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5C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B5C9D2"/>
                </a:solidFill>
                <a:latin typeface="Helvetica Neue"/>
                <a:ea typeface="Helvetica Neue"/>
                <a:cs typeface="Helvetica Neue"/>
              </a:rPr>
              <a:t>Structured records and summaries give staff a clear handoff when the call continues beyond automation.</a:t>
            </a:r>
          </a:p>
        </p:txBody>
      </p:sp>
      <p:sp>
        <p:nvSpPr>
          <p:cNvPr id="41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BE46A3C7-0195-491E-A7C1-660C0B58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A5C"/>
            </a:solidFill>
            <a:prstDash val="solid"/>
          </a:ln>
        </p:spPr>
      </p:sp>
      <p:sp>
        <p:nvSpPr>
          <p:cNvPr id="42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F47C87C5-7E71-497A-8C9B-60A08E19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rPr>
              <a:t>VoiceAI</a:t>
            </a:r>
          </a:p>
        </p:txBody>
      </p:sp>
      <p:sp>
        <p:nvSpPr>
          <p:cNvPr id="43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B82B6B3A-1F4F-43DC-BC2B-D3109381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A7C0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A7C0C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063058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operations-brand">
            <a:extLst xmlns:a="http://schemas.openxmlformats.org/drawingml/2006/main">
              <a:ext uri="{FF2B5EF4-FFF2-40B4-BE49-F238E27FC236}">
                <a16:creationId xmlns:a16="http://schemas.microsoft.com/office/drawing/2014/main" id="{8F7E10A2-F5CB-4702-9CF4-16CC35BC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4800"/>
            <a:ext cx="16954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1"/>
          </a:solidFill>
          <a:ln xmlns:a="http://schemas.openxmlformats.org/drawingml/2006/main" w="9525">
            <a:solidFill>
              <a:srgbClr val="A8C9C6"/>
            </a:solidFill>
            <a:prstDash val="solid"/>
          </a:ln>
        </p:spPr>
      </p:sp>
      <p:sp>
        <p:nvSpPr>
          <p:cNvPr id="2" name="operations-brand-text">
            <a:extLst xmlns:a="http://schemas.openxmlformats.org/drawingml/2006/main">
              <a:ext uri="{FF2B5EF4-FFF2-40B4-BE49-F238E27FC236}">
                <a16:creationId xmlns:a16="http://schemas.microsoft.com/office/drawing/2014/main" id="{C2D689F2-0592-4519-809E-06B823D7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957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YOUR BRAND</a:t>
            </a:r>
          </a:p>
        </p:txBody>
      </p:sp>
      <p:sp>
        <p:nvSpPr>
          <p:cNvPr id="3" name="kicker-The call connects to the operation">
            <a:extLst xmlns:a="http://schemas.openxmlformats.org/drawingml/2006/main">
              <a:ext uri="{FF2B5EF4-FFF2-40B4-BE49-F238E27FC236}">
                <a16:creationId xmlns:a16="http://schemas.microsoft.com/office/drawing/2014/main" id="{22722690-4947-4E1E-AAC7-8C4D3774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CONNECTED OPERATIONS</a:t>
            </a:r>
          </a:p>
        </p:txBody>
      </p:sp>
      <p:sp>
        <p:nvSpPr>
          <p:cNvPr id="4" name="title-The call connects to the operation">
            <a:extLst xmlns:a="http://schemas.openxmlformats.org/drawingml/2006/main">
              <a:ext uri="{FF2B5EF4-FFF2-40B4-BE49-F238E27FC236}">
                <a16:creationId xmlns:a16="http://schemas.microsoft.com/office/drawing/2014/main" id="{E57501C4-5272-4850-9725-EA536062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The call connects to the operation</a:t>
            </a:r>
          </a:p>
        </p:txBody>
      </p:sp>
      <p:sp>
        <p:nvSpPr>
          <p:cNvPr id="5" name="subtitle-The call connects to the operation">
            <a:extLst xmlns:a="http://schemas.openxmlformats.org/drawingml/2006/main">
              <a:ext uri="{FF2B5EF4-FFF2-40B4-BE49-F238E27FC236}">
                <a16:creationId xmlns:a16="http://schemas.microsoft.com/office/drawing/2014/main" id="{80233229-D229-43AF-A172-A7AEED0F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VoiceAI turns a conversation into updates the team can act on.</a:t>
            </a:r>
          </a:p>
        </p:txBody>
      </p:sp>
      <p:sp>
        <p:nvSpPr>
          <p:cNvPr id="6" name="operations-center">
            <a:extLst xmlns:a="http://schemas.openxmlformats.org/drawingml/2006/main">
              <a:ext uri="{FF2B5EF4-FFF2-40B4-BE49-F238E27FC236}">
                <a16:creationId xmlns:a16="http://schemas.microsoft.com/office/drawing/2014/main" id="{5C4D1F7F-0D67-400E-8570-EC73276E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2890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B42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7" name="operations-center-title">
            <a:extLst xmlns:a="http://schemas.openxmlformats.org/drawingml/2006/main">
              <a:ext uri="{FF2B5EF4-FFF2-40B4-BE49-F238E27FC236}">
                <a16:creationId xmlns:a16="http://schemas.microsoft.com/office/drawing/2014/main" id="{8AAFC37B-4051-4D5E-8DDE-E8ECDB5E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62300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VoiceAI</a:t>
            </a:r>
          </a:p>
        </p:txBody>
      </p:sp>
      <p:sp>
        <p:nvSpPr>
          <p:cNvPr id="8" name="operations-center-body">
            <a:extLst xmlns:a="http://schemas.openxmlformats.org/drawingml/2006/main">
              <a:ext uri="{FF2B5EF4-FFF2-40B4-BE49-F238E27FC236}">
                <a16:creationId xmlns:a16="http://schemas.microsoft.com/office/drawing/2014/main" id="{0947B201-A40F-449D-8265-F9CD838B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600450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conversation</a:t>
            </a:r>
          </a:p>
          <a:p xmlns:a="http://schemas.openxmlformats.org/drawingml/2006/main">
            <a:pPr algn="ctr">
              <a:defRPr sz="1200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→ action</a:t>
            </a:r>
          </a:p>
        </p:txBody>
      </p:sp>
      <p:sp>
        <p:nvSpPr>
          <p:cNvPr id="9" name="operations-node-0">
            <a:extLst xmlns:a="http://schemas.openxmlformats.org/drawingml/2006/main">
              <a:ext uri="{FF2B5EF4-FFF2-40B4-BE49-F238E27FC236}">
                <a16:creationId xmlns:a16="http://schemas.microsoft.com/office/drawing/2014/main" id="{22B42CC0-A7F9-4CE9-B99E-3FBCBE7B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26479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8F7"/>
          </a:solidFill>
          <a:ln xmlns:a="http://schemas.openxmlformats.org/drawingml/2006/main" w="9525">
            <a:solidFill>
              <a:srgbClr val="C9DEDA"/>
            </a:solidFill>
            <a:prstDash val="solid"/>
          </a:ln>
        </p:spPr>
      </p:sp>
      <p:sp>
        <p:nvSpPr>
          <p:cNvPr id="10" name="operations-dot-0">
            <a:extLst xmlns:a="http://schemas.openxmlformats.org/drawingml/2006/main">
              <a:ext uri="{FF2B5EF4-FFF2-40B4-BE49-F238E27FC236}">
                <a16:creationId xmlns:a16="http://schemas.microsoft.com/office/drawing/2014/main" id="{243EEC6A-D82B-4DB7-824D-A45A9290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perations-label-0">
            <a:extLst xmlns:a="http://schemas.openxmlformats.org/drawingml/2006/main">
              <a:ext uri="{FF2B5EF4-FFF2-40B4-BE49-F238E27FC236}">
                <a16:creationId xmlns:a16="http://schemas.microsoft.com/office/drawing/2014/main" id="{641499AD-30F1-4735-9CC2-518C021B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CUSTOMER RECORDS</a:t>
            </a:r>
          </a:p>
        </p:txBody>
      </p:sp>
      <p:sp>
        <p:nvSpPr>
          <p:cNvPr id="12" name="operations-body-0">
            <a:extLst xmlns:a="http://schemas.openxmlformats.org/drawingml/2006/main">
              <a:ext uri="{FF2B5EF4-FFF2-40B4-BE49-F238E27FC236}">
                <a16:creationId xmlns:a16="http://schemas.microsoft.com/office/drawing/2014/main" id="{7A773713-505D-4277-82E5-BBCA9321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History, vehicle details, active requests</a:t>
            </a:r>
          </a:p>
        </p:txBody>
      </p:sp>
      <p:cxnSp>
        <p:nvCxnSpPr>
          <p:cNvPr id="50" name=""/>
          <p:cNvCxnSpPr>
            <a:stCxn xmlns:a="http://schemas.openxmlformats.org/drawingml/2006/main" id="6" idx="2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 flipV="1">
            <a:off x="3619500" y="2819400"/>
            <a:ext cx="1581150" cy="685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EB5B1"/>
            </a:solidFill>
            <a:prstDash val="solid"/>
            <a:headEnd type="arrow" w="sm" len="sm"/>
          </a:ln>
        </p:spPr>
      </p:cxnSp>
      <p:sp>
        <p:nvSpPr>
          <p:cNvPr id="14" name="operations-node-1">
            <a:extLst xmlns:a="http://schemas.openxmlformats.org/drawingml/2006/main">
              <a:ext uri="{FF2B5EF4-FFF2-40B4-BE49-F238E27FC236}">
                <a16:creationId xmlns:a16="http://schemas.microsoft.com/office/drawing/2014/main" id="{7E5D68BC-8603-4C3F-9800-49696762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81250"/>
            <a:ext cx="26479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8F7"/>
          </a:solidFill>
          <a:ln xmlns:a="http://schemas.openxmlformats.org/drawingml/2006/main" w="9525">
            <a:solidFill>
              <a:srgbClr val="C9DEDA"/>
            </a:solidFill>
            <a:prstDash val="solid"/>
          </a:ln>
        </p:spPr>
      </p:sp>
      <p:sp>
        <p:nvSpPr>
          <p:cNvPr id="15" name="operations-dot-1">
            <a:extLst xmlns:a="http://schemas.openxmlformats.org/drawingml/2006/main">
              <a:ext uri="{FF2B5EF4-FFF2-40B4-BE49-F238E27FC236}">
                <a16:creationId xmlns:a16="http://schemas.microsoft.com/office/drawing/2014/main" id="{5DDA2FF5-E952-4235-BB6E-39E68245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71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perations-label-1">
            <a:extLst xmlns:a="http://schemas.openxmlformats.org/drawingml/2006/main">
              <a:ext uri="{FF2B5EF4-FFF2-40B4-BE49-F238E27FC236}">
                <a16:creationId xmlns:a16="http://schemas.microsoft.com/office/drawing/2014/main" id="{71B05A14-E6A4-402C-8E39-E89A4D55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527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GOOGLE CALENDAR</a:t>
            </a:r>
          </a:p>
        </p:txBody>
      </p:sp>
      <p:sp>
        <p:nvSpPr>
          <p:cNvPr id="17" name="operations-body-1">
            <a:extLst xmlns:a="http://schemas.openxmlformats.org/drawingml/2006/main">
              <a:ext uri="{FF2B5EF4-FFF2-40B4-BE49-F238E27FC236}">
                <a16:creationId xmlns:a16="http://schemas.microsoft.com/office/drawing/2014/main" id="{1AEBF20B-63CB-4796-8F78-402E828B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384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Availability and booked slots</a:t>
            </a:r>
          </a:p>
        </p:txBody>
      </p:sp>
      <p:cxnSp>
        <p:nvCxnSpPr>
          <p:cNvPr id="55" name=""/>
          <p:cNvCxnSpPr>
            <a:stCxn xmlns:a="http://schemas.openxmlformats.org/drawingml/2006/main" id="6" idx="6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6953250" y="2819400"/>
            <a:ext cx="1562100" cy="685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EB5B1"/>
            </a:solidFill>
            <a:prstDash val="solid"/>
            <a:headEnd type="arrow" w="sm" len="sm"/>
          </a:ln>
        </p:spPr>
      </p:cxnSp>
      <p:sp>
        <p:nvSpPr>
          <p:cNvPr id="19" name="operations-node-2">
            <a:extLst xmlns:a="http://schemas.openxmlformats.org/drawingml/2006/main">
              <a:ext uri="{FF2B5EF4-FFF2-40B4-BE49-F238E27FC236}">
                <a16:creationId xmlns:a16="http://schemas.microsoft.com/office/drawing/2014/main" id="{55713418-54D9-449D-A555-EF0E9660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26479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8F7"/>
          </a:solidFill>
          <a:ln xmlns:a="http://schemas.openxmlformats.org/drawingml/2006/main" w="9525">
            <a:solidFill>
              <a:srgbClr val="C9DEDA"/>
            </a:solidFill>
            <a:prstDash val="solid"/>
          </a:ln>
        </p:spPr>
      </p:sp>
      <p:sp>
        <p:nvSpPr>
          <p:cNvPr id="20" name="operations-dot-2">
            <a:extLst xmlns:a="http://schemas.openxmlformats.org/drawingml/2006/main">
              <a:ext uri="{FF2B5EF4-FFF2-40B4-BE49-F238E27FC236}">
                <a16:creationId xmlns:a16="http://schemas.microsoft.com/office/drawing/2014/main" id="{B621D94A-2D3F-435E-9572-323EAC01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05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operations-label-2">
            <a:extLst xmlns:a="http://schemas.openxmlformats.org/drawingml/2006/main">
              <a:ext uri="{FF2B5EF4-FFF2-40B4-BE49-F238E27FC236}">
                <a16:creationId xmlns:a16="http://schemas.microsoft.com/office/drawing/2014/main" id="{562FCFA9-1FD4-4899-909E-47E63BC3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KNOWLEDGE BASE</a:t>
            </a:r>
          </a:p>
        </p:txBody>
      </p:sp>
      <p:sp>
        <p:nvSpPr>
          <p:cNvPr id="22" name="operations-body-2">
            <a:extLst xmlns:a="http://schemas.openxmlformats.org/drawingml/2006/main">
              <a:ext uri="{FF2B5EF4-FFF2-40B4-BE49-F238E27FC236}">
                <a16:creationId xmlns:a16="http://schemas.microsoft.com/office/drawing/2014/main" id="{D7FD453F-8730-4CDE-ACA2-C56AB372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720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Business answers grounded in source material</a:t>
            </a:r>
          </a:p>
        </p:txBody>
      </p:sp>
      <p:cxnSp>
        <p:nvCxnSpPr>
          <p:cNvPr id="60" name=""/>
          <p:cNvCxnSpPr>
            <a:stCxn xmlns:a="http://schemas.openxmlformats.org/drawingml/2006/main" id="6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3619500" y="3505200"/>
            <a:ext cx="1581150" cy="1447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EB5B1"/>
            </a:solidFill>
            <a:prstDash val="solid"/>
            <a:headEnd type="arrow" w="sm" len="sm"/>
          </a:ln>
        </p:spPr>
      </p:cxnSp>
      <p:sp>
        <p:nvSpPr>
          <p:cNvPr id="24" name="operations-node-3">
            <a:extLst xmlns:a="http://schemas.openxmlformats.org/drawingml/2006/main">
              <a:ext uri="{FF2B5EF4-FFF2-40B4-BE49-F238E27FC236}">
                <a16:creationId xmlns:a16="http://schemas.microsoft.com/office/drawing/2014/main" id="{04D4B397-2728-44A9-A584-A625D6EE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14850"/>
            <a:ext cx="26479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8F7"/>
          </a:solidFill>
          <a:ln xmlns:a="http://schemas.openxmlformats.org/drawingml/2006/main" w="9525">
            <a:solidFill>
              <a:srgbClr val="C9DEDA"/>
            </a:solidFill>
            <a:prstDash val="solid"/>
          </a:ln>
        </p:spPr>
      </p:sp>
      <p:sp>
        <p:nvSpPr>
          <p:cNvPr id="25" name="operations-dot-3">
            <a:extLst xmlns:a="http://schemas.openxmlformats.org/drawingml/2006/main">
              <a:ext uri="{FF2B5EF4-FFF2-40B4-BE49-F238E27FC236}">
                <a16:creationId xmlns:a16="http://schemas.microsoft.com/office/drawing/2014/main" id="{1814DCD9-3D54-4550-B642-B99ED705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05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operations-label-3">
            <a:extLst xmlns:a="http://schemas.openxmlformats.org/drawingml/2006/main">
              <a:ext uri="{FF2B5EF4-FFF2-40B4-BE49-F238E27FC236}">
                <a16:creationId xmlns:a16="http://schemas.microsoft.com/office/drawing/2014/main" id="{C8396410-CFA7-4920-8C7E-81ACE3D5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863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EMAIL + SMS</a:t>
            </a:r>
          </a:p>
        </p:txBody>
      </p:sp>
      <p:sp>
        <p:nvSpPr>
          <p:cNvPr id="27" name="operations-body-3">
            <a:extLst xmlns:a="http://schemas.openxmlformats.org/drawingml/2006/main">
              <a:ext uri="{FF2B5EF4-FFF2-40B4-BE49-F238E27FC236}">
                <a16:creationId xmlns:a16="http://schemas.microsoft.com/office/drawing/2014/main" id="{A10503B5-3512-4F92-8FC8-25B1BBF5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9720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Customer and staff notifications</a:t>
            </a:r>
          </a:p>
        </p:txBody>
      </p:sp>
      <p:cxnSp>
        <p:nvCxnSpPr>
          <p:cNvPr id="65" name=""/>
          <p:cNvCxnSpPr>
            <a:stCxn xmlns:a="http://schemas.openxmlformats.org/drawingml/2006/main" id="6" idx="6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6953250" y="3505200"/>
            <a:ext cx="1562100" cy="1447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EB5B1"/>
            </a:solidFill>
            <a:prstDash val="solid"/>
            <a:headEnd type="arrow" w="sm" len="sm"/>
          </a:ln>
        </p:spPr>
      </p:cxnSp>
      <p:sp>
        <p:nvSpPr>
          <p:cNvPr id="29" name="operations-portal-band">
            <a:extLst xmlns:a="http://schemas.openxmlformats.org/drawingml/2006/main">
              <a:ext uri="{FF2B5EF4-FFF2-40B4-BE49-F238E27FC236}">
                <a16:creationId xmlns:a16="http://schemas.microsoft.com/office/drawing/2014/main" id="{ED4DD6F4-13E4-4B68-A747-217B6776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53100"/>
            <a:ext cx="102489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D2B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operations-portal-title">
            <a:extLst xmlns:a="http://schemas.openxmlformats.org/drawingml/2006/main">
              <a:ext uri="{FF2B5EF4-FFF2-40B4-BE49-F238E27FC236}">
                <a16:creationId xmlns:a16="http://schemas.microsoft.com/office/drawing/2014/main" id="{4A8297B5-9F98-45D6-A635-5E919700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674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STAFF PORTAL</a:t>
            </a:r>
          </a:p>
        </p:txBody>
      </p:sp>
      <p:sp>
        <p:nvSpPr>
          <p:cNvPr id="31" name="operations-portal-transcripts">
            <a:extLst xmlns:a="http://schemas.openxmlformats.org/drawingml/2006/main">
              <a:ext uri="{FF2B5EF4-FFF2-40B4-BE49-F238E27FC236}">
                <a16:creationId xmlns:a16="http://schemas.microsoft.com/office/drawing/2014/main" id="{FF997124-F648-4EBB-87B8-7CA9CE29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8674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Transcripts</a:t>
            </a:r>
          </a:p>
        </p:txBody>
      </p:sp>
      <p:sp>
        <p:nvSpPr>
          <p:cNvPr id="32" name="operations-portal-catalog">
            <a:extLst xmlns:a="http://schemas.openxmlformats.org/drawingml/2006/main">
              <a:ext uri="{FF2B5EF4-FFF2-40B4-BE49-F238E27FC236}">
                <a16:creationId xmlns:a16="http://schemas.microsoft.com/office/drawing/2014/main" id="{850B61B3-CDB7-4AE1-A929-A99D1EFD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8674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Service catalog</a:t>
            </a:r>
          </a:p>
        </p:txBody>
      </p:sp>
      <p:sp>
        <p:nvSpPr>
          <p:cNvPr id="33" name="operations-portal-calendar">
            <a:extLst xmlns:a="http://schemas.openxmlformats.org/drawingml/2006/main">
              <a:ext uri="{FF2B5EF4-FFF2-40B4-BE49-F238E27FC236}">
                <a16:creationId xmlns:a16="http://schemas.microsoft.com/office/drawing/2014/main" id="{C39122E5-DCB4-4267-8294-DE9582C9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8674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Calendar controls</a:t>
            </a:r>
          </a:p>
        </p:txBody>
      </p:sp>
      <p:sp>
        <p:nvSpPr>
          <p:cNvPr id="34" name="operations-portal-escalation">
            <a:extLst xmlns:a="http://schemas.openxmlformats.org/drawingml/2006/main">
              <a:ext uri="{FF2B5EF4-FFF2-40B4-BE49-F238E27FC236}">
                <a16:creationId xmlns:a16="http://schemas.microsoft.com/office/drawing/2014/main" id="{D3C71CCC-52A5-4FB5-9F0D-528CBFA9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8674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Escalation visibility</a:t>
            </a:r>
          </a:p>
        </p:txBody>
      </p:sp>
      <p:sp>
        <p:nvSpPr>
          <p:cNvPr id="35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F7A97195-277A-42C4-B229-E7EEDAB6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FE2"/>
            </a:solidFill>
            <a:prstDash val="solid"/>
          </a:ln>
        </p:spPr>
      </p:sp>
      <p:sp>
        <p:nvSpPr>
          <p:cNvPr id="36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8FA86A54-17C4-4D98-B0DD-736C117E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186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691"/>
                </a:solidFill>
                <a:latin typeface="Helvetica Neue"/>
                <a:ea typeface="Helvetica Neue"/>
                <a:cs typeface="Helvetica Neue"/>
              </a:rPr>
              <a:t>VoiceAI</a:t>
            </a:r>
          </a:p>
        </p:txBody>
      </p:sp>
      <p:sp>
        <p:nvSpPr>
          <p:cNvPr id="37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BFFDE5A6-5894-4D64-BA4E-4520556D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7186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718691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352536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close-brand">
            <a:extLst xmlns:a="http://schemas.openxmlformats.org/drawingml/2006/main">
              <a:ext uri="{FF2B5EF4-FFF2-40B4-BE49-F238E27FC236}">
                <a16:creationId xmlns:a16="http://schemas.microsoft.com/office/drawing/2014/main" id="{ECC5055A-D028-4CEF-9421-B9C09E4E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4800"/>
            <a:ext cx="16954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334A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2" name="close-brand-text">
            <a:extLst xmlns:a="http://schemas.openxmlformats.org/drawingml/2006/main">
              <a:ext uri="{FF2B5EF4-FFF2-40B4-BE49-F238E27FC236}">
                <a16:creationId xmlns:a16="http://schemas.microsoft.com/office/drawing/2014/main" id="{86CE9A99-DC29-4F1F-8A95-F097D84A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957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YOUR BRAND</a:t>
            </a:r>
          </a:p>
        </p:txBody>
      </p:sp>
      <p:sp>
        <p:nvSpPr>
          <p:cNvPr id="3" name="kicker-Start with one high-volume call flow">
            <a:extLst xmlns:a="http://schemas.openxmlformats.org/drawingml/2006/main">
              <a:ext uri="{FF2B5EF4-FFF2-40B4-BE49-F238E27FC236}">
                <a16:creationId xmlns:a16="http://schemas.microsoft.com/office/drawing/2014/main" id="{9D75B0F9-C067-4028-ACEE-98FF2215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A PRACTICAL STARTING POINT</a:t>
            </a:r>
          </a:p>
        </p:txBody>
      </p:sp>
      <p:sp>
        <p:nvSpPr>
          <p:cNvPr id="4" name="title-Start with one high-volume call flow">
            <a:extLst xmlns:a="http://schemas.openxmlformats.org/drawingml/2006/main">
              <a:ext uri="{FF2B5EF4-FFF2-40B4-BE49-F238E27FC236}">
                <a16:creationId xmlns:a16="http://schemas.microsoft.com/office/drawing/2014/main" id="{EED679E8-C3F9-48DA-ACB9-82F81A0B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Start with one high-volume call flow</a:t>
            </a:r>
          </a:p>
        </p:txBody>
      </p:sp>
      <p:sp>
        <p:nvSpPr>
          <p:cNvPr id="5" name="subtitle-Start with one high-volume call flow">
            <a:extLst xmlns:a="http://schemas.openxmlformats.org/drawingml/2006/main">
              <a:ext uri="{FF2B5EF4-FFF2-40B4-BE49-F238E27FC236}">
                <a16:creationId xmlns:a16="http://schemas.microsoft.com/office/drawing/2014/main" id="{5A539F54-A587-467C-B229-CDBA88E4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2C6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B2C6CF"/>
                </a:solidFill>
                <a:latin typeface="Helvetica Neue"/>
                <a:ea typeface="Helvetica Neue"/>
                <a:cs typeface="Helvetica Neue"/>
              </a:rPr>
              <a:t>A focused pilot lets the team map the conversation, the systems it touches, and the next operational step.</a:t>
            </a:r>
          </a:p>
        </p:txBody>
      </p:sp>
      <p:sp>
        <p:nvSpPr>
          <p:cNvPr id="6" name="close-example-kicker">
            <a:extLst xmlns:a="http://schemas.openxmlformats.org/drawingml/2006/main">
              <a:ext uri="{FF2B5EF4-FFF2-40B4-BE49-F238E27FC236}">
                <a16:creationId xmlns:a16="http://schemas.microsoft.com/office/drawing/2014/main" id="{AAE16E33-D908-460C-835D-98DBEF61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AUTO-SERVICE EXAMPLE</a:t>
            </a:r>
          </a:p>
        </p:txBody>
      </p:sp>
      <p:sp>
        <p:nvSpPr>
          <p:cNvPr id="7" name="close-example-body">
            <a:extLst xmlns:a="http://schemas.openxmlformats.org/drawingml/2006/main">
              <a:ext uri="{FF2B5EF4-FFF2-40B4-BE49-F238E27FC236}">
                <a16:creationId xmlns:a16="http://schemas.microsoft.com/office/drawing/2014/main" id="{C7A36E22-BCE7-4A94-85FE-75D3D462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brake-repair call becomes a captured service request, a viable appointment slot, and a clear staff follow-up.</a:t>
            </a:r>
          </a:p>
        </p:txBody>
      </p:sp>
      <p:sp>
        <p:nvSpPr>
          <p:cNvPr id="8" name="close-rule">
            <a:extLst xmlns:a="http://schemas.openxmlformats.org/drawingml/2006/main">
              <a:ext uri="{FF2B5EF4-FFF2-40B4-BE49-F238E27FC236}">
                <a16:creationId xmlns:a16="http://schemas.microsoft.com/office/drawing/2014/main" id="{2E64FD4D-4DE1-4551-AB04-97FA1DF3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A5C"/>
            </a:solidFill>
            <a:prstDash val="solid"/>
          </a:ln>
        </p:spPr>
      </p:sp>
      <p:sp>
        <p:nvSpPr>
          <p:cNvPr id="9" name="close-pilot-label">
            <a:extLst xmlns:a="http://schemas.openxmlformats.org/drawingml/2006/main">
              <a:ext uri="{FF2B5EF4-FFF2-40B4-BE49-F238E27FC236}">
                <a16:creationId xmlns:a16="http://schemas.microsoft.com/office/drawing/2014/main" id="{E695961E-00D4-419F-B8FF-3A21DC57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rPr>
              <a:t>Pilot scope</a:t>
            </a:r>
          </a:p>
        </p:txBody>
      </p:sp>
      <p:sp>
        <p:nvSpPr>
          <p:cNvPr id="10" name="close-pilot-list">
            <a:extLst xmlns:a="http://schemas.openxmlformats.org/drawingml/2006/main">
              <a:ext uri="{FF2B5EF4-FFF2-40B4-BE49-F238E27FC236}">
                <a16:creationId xmlns:a16="http://schemas.microsoft.com/office/drawing/2014/main" id="{49D500DC-DFC9-4BBE-8A25-AB593E1B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38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7D8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C7D8DE"/>
                </a:solidFill>
                <a:latin typeface="Helvetica Neue"/>
                <a:ea typeface="Helvetica Neue"/>
                <a:cs typeface="Helvetica Neue"/>
              </a:rPr>
              <a:t>Configure the service catalog</a:t>
            </a:r>
          </a:p>
          <a:p xmlns:a="http://schemas.openxmlformats.org/drawingml/2006/main">
            <a:pPr>
              <a:defRPr sz="1350">
                <a:solidFill>
                  <a:srgbClr val="C7D8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C7D8DE"/>
                </a:solidFill>
                <a:latin typeface="Helvetica Neue"/>
                <a:ea typeface="Helvetica Neue"/>
                <a:cs typeface="Helvetica Neue"/>
              </a:rPr>
              <a:t>Connect calendars and notifications</a:t>
            </a:r>
          </a:p>
          <a:p xmlns:a="http://schemas.openxmlformats.org/drawingml/2006/main">
            <a:pPr>
              <a:defRPr sz="1350">
                <a:solidFill>
                  <a:srgbClr val="C7D8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C7D8DE"/>
                </a:solidFill>
                <a:latin typeface="Helvetica Neue"/>
                <a:ea typeface="Helvetica Neue"/>
                <a:cs typeface="Helvetica Neue"/>
              </a:rPr>
              <a:t>Review transcripts and exceptions</a:t>
            </a:r>
          </a:p>
        </p:txBody>
      </p:sp>
      <p:sp>
        <p:nvSpPr>
          <p:cNvPr id="11" name="close-next-step">
            <a:extLst xmlns:a="http://schemas.openxmlformats.org/drawingml/2006/main">
              <a:ext uri="{FF2B5EF4-FFF2-40B4-BE49-F238E27FC236}">
                <a16:creationId xmlns:a16="http://schemas.microsoft.com/office/drawing/2014/main" id="{311289F1-4D4E-4377-B106-66094EFD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Use the first pilot to map one workflow and the systems it touches.</a:t>
            </a:r>
          </a:p>
        </p:txBody>
      </p:sp>
      <p:sp>
        <p:nvSpPr>
          <p:cNvPr id="12" name="close-portal-frame">
            <a:extLst xmlns:a="http://schemas.openxmlformats.org/drawingml/2006/main">
              <a:ext uri="{FF2B5EF4-FFF2-40B4-BE49-F238E27FC236}">
                <a16:creationId xmlns:a16="http://schemas.microsoft.com/office/drawing/2014/main" id="{542DDFD8-FB15-4FE2-A8CE-D0A69BDD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05050"/>
            <a:ext cx="417195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102C41"/>
          </a:solidFill>
          <a:ln xmlns:a="http://schemas.openxmlformats.org/drawingml/2006/main" w="9525">
            <a:solidFill>
              <a:srgbClr val="31566C"/>
            </a:solidFill>
            <a:prstDash val="solid"/>
          </a:ln>
        </p:spPr>
      </p:sp>
      <p:sp>
        <p:nvSpPr>
          <p:cNvPr id="13" name="close-portal-title">
            <a:extLst xmlns:a="http://schemas.openxmlformats.org/drawingml/2006/main">
              <a:ext uri="{FF2B5EF4-FFF2-40B4-BE49-F238E27FC236}">
                <a16:creationId xmlns:a16="http://schemas.microsoft.com/office/drawing/2014/main" id="{AC057D93-A4F8-4291-8D4A-E04D2DC1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52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STAFF PORTAL</a:t>
            </a:r>
          </a:p>
        </p:txBody>
      </p:sp>
      <p:sp>
        <p:nvSpPr>
          <p:cNvPr id="14" name="close-portal-rule">
            <a:extLst xmlns:a="http://schemas.openxmlformats.org/drawingml/2006/main">
              <a:ext uri="{FF2B5EF4-FFF2-40B4-BE49-F238E27FC236}">
                <a16:creationId xmlns:a16="http://schemas.microsoft.com/office/drawing/2014/main" id="{A07CFB1E-C6E0-44C3-AC83-4C37988F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66C"/>
            </a:solidFill>
            <a:prstDash val="solid"/>
          </a:ln>
        </p:spPr>
      </p:sp>
      <p:sp>
        <p:nvSpPr>
          <p:cNvPr id="15" name="close-portal-dot-0">
            <a:extLst xmlns:a="http://schemas.openxmlformats.org/drawingml/2006/main">
              <a:ext uri="{FF2B5EF4-FFF2-40B4-BE49-F238E27FC236}">
                <a16:creationId xmlns:a16="http://schemas.microsoft.com/office/drawing/2014/main" id="{813D17BF-4894-408C-88AB-64895940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19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lose-portal-row-label-0">
            <a:extLst xmlns:a="http://schemas.openxmlformats.org/drawingml/2006/main">
              <a:ext uri="{FF2B5EF4-FFF2-40B4-BE49-F238E27FC236}">
                <a16:creationId xmlns:a16="http://schemas.microsoft.com/office/drawing/2014/main" id="{FBE97C13-337C-4391-8525-BB737CD2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813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Service catalog</a:t>
            </a:r>
          </a:p>
        </p:txBody>
      </p:sp>
      <p:sp>
        <p:nvSpPr>
          <p:cNvPr id="17" name="close-portal-row-body-0">
            <a:extLst xmlns:a="http://schemas.openxmlformats.org/drawingml/2006/main">
              <a:ext uri="{FF2B5EF4-FFF2-40B4-BE49-F238E27FC236}">
                <a16:creationId xmlns:a16="http://schemas.microsoft.com/office/drawing/2014/main" id="{4B32FE07-A4AB-4589-9A0F-BBC3E3E3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81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rPr>
              <a:t>Edit offers and intake fields</a:t>
            </a:r>
          </a:p>
        </p:txBody>
      </p:sp>
      <p:sp>
        <p:nvSpPr>
          <p:cNvPr id="18" name="close-portal-row-rule-0">
            <a:extLst xmlns:a="http://schemas.openxmlformats.org/drawingml/2006/main">
              <a:ext uri="{FF2B5EF4-FFF2-40B4-BE49-F238E27FC236}">
                <a16:creationId xmlns:a16="http://schemas.microsoft.com/office/drawing/2014/main" id="{92F964C2-3897-4A8E-B61E-C00F8972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95D"/>
            </a:solidFill>
            <a:prstDash val="solid"/>
          </a:ln>
        </p:spPr>
      </p:sp>
      <p:sp>
        <p:nvSpPr>
          <p:cNvPr id="19" name="close-portal-dot-1">
            <a:extLst xmlns:a="http://schemas.openxmlformats.org/drawingml/2006/main">
              <a:ext uri="{FF2B5EF4-FFF2-40B4-BE49-F238E27FC236}">
                <a16:creationId xmlns:a16="http://schemas.microsoft.com/office/drawing/2014/main" id="{7C0ACE58-D557-4591-A357-CF0BC698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lose-portal-row-label-1">
            <a:extLst xmlns:a="http://schemas.openxmlformats.org/drawingml/2006/main">
              <a:ext uri="{FF2B5EF4-FFF2-40B4-BE49-F238E27FC236}">
                <a16:creationId xmlns:a16="http://schemas.microsoft.com/office/drawing/2014/main" id="{E6BA0A0F-186B-4910-8504-FF74FB45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766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Calendar controls</a:t>
            </a:r>
          </a:p>
        </p:txBody>
      </p:sp>
      <p:sp>
        <p:nvSpPr>
          <p:cNvPr id="21" name="close-portal-row-body-1">
            <a:extLst xmlns:a="http://schemas.openxmlformats.org/drawingml/2006/main">
              <a:ext uri="{FF2B5EF4-FFF2-40B4-BE49-F238E27FC236}">
                <a16:creationId xmlns:a16="http://schemas.microsoft.com/office/drawing/2014/main" id="{F8FDB89D-5E61-473C-A37C-837A52CC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76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rPr>
              <a:t>Manage availability and bookings</a:t>
            </a:r>
          </a:p>
        </p:txBody>
      </p:sp>
      <p:sp>
        <p:nvSpPr>
          <p:cNvPr id="22" name="close-portal-row-rule-1">
            <a:extLst xmlns:a="http://schemas.openxmlformats.org/drawingml/2006/main">
              <a:ext uri="{FF2B5EF4-FFF2-40B4-BE49-F238E27FC236}">
                <a16:creationId xmlns:a16="http://schemas.microsoft.com/office/drawing/2014/main" id="{EE430E8B-C800-4085-9CBF-4643ECEF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195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95D"/>
            </a:solidFill>
            <a:prstDash val="solid"/>
          </a:ln>
        </p:spPr>
      </p:sp>
      <p:sp>
        <p:nvSpPr>
          <p:cNvPr id="23" name="close-portal-dot-2">
            <a:extLst xmlns:a="http://schemas.openxmlformats.org/drawingml/2006/main">
              <a:ext uri="{FF2B5EF4-FFF2-40B4-BE49-F238E27FC236}">
                <a16:creationId xmlns:a16="http://schemas.microsoft.com/office/drawing/2014/main" id="{BC5784D1-43BC-4B9A-8076-8EEEE06B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10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FF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lose-portal-row-label-2">
            <a:extLst xmlns:a="http://schemas.openxmlformats.org/drawingml/2006/main">
              <a:ext uri="{FF2B5EF4-FFF2-40B4-BE49-F238E27FC236}">
                <a16:creationId xmlns:a16="http://schemas.microsoft.com/office/drawing/2014/main" id="{CC3957FB-D6A4-4981-95A7-B30F95F1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719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Transcript review</a:t>
            </a:r>
          </a:p>
        </p:txBody>
      </p:sp>
      <p:sp>
        <p:nvSpPr>
          <p:cNvPr id="25" name="close-portal-row-body-2">
            <a:extLst xmlns:a="http://schemas.openxmlformats.org/drawingml/2006/main">
              <a:ext uri="{FF2B5EF4-FFF2-40B4-BE49-F238E27FC236}">
                <a16:creationId xmlns:a16="http://schemas.microsoft.com/office/drawing/2014/main" id="{967F24A3-9AC5-4824-9B6E-89926E8E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71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rPr>
              <a:t>See summaries and full call context</a:t>
            </a:r>
          </a:p>
        </p:txBody>
      </p:sp>
      <p:sp>
        <p:nvSpPr>
          <p:cNvPr id="26" name="close-portal-row-rule-2">
            <a:extLst xmlns:a="http://schemas.openxmlformats.org/drawingml/2006/main">
              <a:ext uri="{FF2B5EF4-FFF2-40B4-BE49-F238E27FC236}">
                <a16:creationId xmlns:a16="http://schemas.microsoft.com/office/drawing/2014/main" id="{2438B883-DA59-43B0-B73D-7DA0B28B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148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95D"/>
            </a:solidFill>
            <a:prstDash val="solid"/>
          </a:ln>
        </p:spPr>
      </p:sp>
      <p:sp>
        <p:nvSpPr>
          <p:cNvPr id="27" name="close-portal-dot-3">
            <a:extLst xmlns:a="http://schemas.openxmlformats.org/drawingml/2006/main">
              <a:ext uri="{FF2B5EF4-FFF2-40B4-BE49-F238E27FC236}">
                <a16:creationId xmlns:a16="http://schemas.microsoft.com/office/drawing/2014/main" id="{565239A6-F122-487A-A851-2D7A4BE8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05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lose-portal-row-label-3">
            <a:extLst xmlns:a="http://schemas.openxmlformats.org/drawingml/2006/main">
              <a:ext uri="{FF2B5EF4-FFF2-40B4-BE49-F238E27FC236}">
                <a16:creationId xmlns:a16="http://schemas.microsoft.com/office/drawing/2014/main" id="{868D4401-D889-45F4-AD3A-56F68DAB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67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Escalation queue</a:t>
            </a:r>
          </a:p>
        </p:txBody>
      </p:sp>
      <p:sp>
        <p:nvSpPr>
          <p:cNvPr id="29" name="close-portal-row-body-3">
            <a:extLst xmlns:a="http://schemas.openxmlformats.org/drawingml/2006/main">
              <a:ext uri="{FF2B5EF4-FFF2-40B4-BE49-F238E27FC236}">
                <a16:creationId xmlns:a16="http://schemas.microsoft.com/office/drawing/2014/main" id="{72FDFE78-A3E3-4925-A271-347565D3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672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rPr>
              <a:t>Surface exceptions for staff</a:t>
            </a:r>
          </a:p>
        </p:txBody>
      </p:sp>
      <p:sp>
        <p:nvSpPr>
          <p:cNvPr id="30" name="close-contact-placeholder">
            <a:extLst xmlns:a="http://schemas.openxmlformats.org/drawingml/2006/main">
              <a:ext uri="{FF2B5EF4-FFF2-40B4-BE49-F238E27FC236}">
                <a16:creationId xmlns:a16="http://schemas.microsoft.com/office/drawing/2014/main" id="{FF7A66C7-0A70-4EF7-BC29-2977F8B7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7531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CONTACT / DEMO</a:t>
            </a:r>
          </a:p>
        </p:txBody>
      </p:sp>
      <p:sp>
        <p:nvSpPr>
          <p:cNvPr id="31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406F4C7E-226A-41A4-8E53-7CF306D7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A5C"/>
            </a:solidFill>
            <a:prstDash val="solid"/>
          </a:ln>
        </p:spPr>
      </p:sp>
      <p:sp>
        <p:nvSpPr>
          <p:cNvPr id="32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680E09A5-FEB5-42CD-ADA9-C6157B6F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rPr>
              <a:t>VoiceAI</a:t>
            </a:r>
          </a:p>
        </p:txBody>
      </p:sp>
      <p:sp>
        <p:nvSpPr>
          <p:cNvPr id="33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AEC4E665-76EE-4B52-B9B0-141728B1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A7C0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A7C0C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903265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2026-10-05T20:55:37.1190000Z</dcterms:created>
  <dcterms:modified xsi:type="dcterms:W3CDTF">2026-10-05T20:55:37.1190000Z</dcterms:modified>
</coreProperties>
</file>